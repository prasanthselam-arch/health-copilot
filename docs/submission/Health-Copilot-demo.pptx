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team hack masters. Health Copilot turns a family's paper records into a verified health record, and then guides them between doctor visits. It answers from their own records, reminds them at the right time, spots trends and risks, and acts on its own, while they stay in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a report is not the same as managing your health. People forget medicines, miss follow-ups, don't repeat tests on time, and don't know what to ask the doctor. In Indian families, one person often carries this for their parents too, across many documents and languages.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Ravi's account. He also looks after his father and mother. The home screen shows today's medicines for him, with Taken and Snooze buttons, and what the copilot found in his records.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one: a new prescription. Ravi saw a doctor for fever three days ago. When he confirmed the prescription, the copilot scheduled the reminders by itself: the antibiotic once a day for five days, the antacid before breakfast, and no reminder for the fever tablet, because it's only taken when needed. It also drafted three questions for his next visit. Every action can be kept, edited or undone.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Reminders cover the whole family's day, at each prescription's own times. Mark a dose as taken, or snooze it for fifteen minutes. A course ends by itself, so the antibiotic stops after five days. Follow-up visits and repeat tests come from the doctor's notes, and push notifications reach the phone even when the app is closed.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two: Ravi's father, Ramesh. His HbA1c was above the range in three reports, and still rising: 7.4, then 7.9, then 8.6 percent. The copilot flags the trend, shows each result with its date, and links to the report it came from. It also looks at combinations, like high sugar with high LDL cholesterol, or kidney results alongside diabetes.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 follow-up visit and his repeat HbA1c test are overdue, so the copilot prompts both, with screenings that suit his age and his diabetes. Every wellness tip says why it is suggested, from his own values. All of this is worked out in code, and worded for a talk with the doctor, never as a diagnosis.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Copilot answers from his own records, and shows the results it used. If something isn't in the records, it says so instead of guessing. And it never changes a medicine or a dose: for that, it sends him to his doctor.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three: Ravi's mother, Lakshmi, prefers Telugu. She taps the microphone and asks which medicines to take tonight.</a:t>
            </a:r>
          </a:p>
          <a:p/>
          <a:p>
            <a:r>
              <a:t>The answer came from her own reminder schedule, and was read aloud in Telugu. Health Copilot speaks English and twelve Indian languages, including right-to-left Urdu. Each family member keeps their own language, for the screens, chat, voice and reminders.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came from her own reminder schedule, and was read aloud in Telugu. Health Copilot speaks English and twelve Indian languages, including right-to-left Urdu. Each family member keeps their own language, for the screens, chat, voice and reminders.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phone, it works like an app: a bottom tab bar, the day's doses one tap away, and it installs to the home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Records are read twice, checked by code and confirmed by a person. Insights, reminders and the copilot's decisions are plain code on top of that record, and the AI only reads and explains.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built into the design. Code decides what is abnormal and what is due; the AI only explains. The copilot shows everything it does, and the person can keep, edit or undo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insights, reminders and the copilot's decisions are plain code, so they work even when the AI is busy, on an always-on free-tier server. AI reads and explains. Code decides. You stay in control.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pic>
        <p:nvPicPr>
          <p:cNvPr id="2" name="Picture 1" descr="banner_still.png"/>
          <p:cNvPicPr>
            <a:picLocks noChangeAspect="1"/>
          </p:cNvPicPr>
          <p:nvPr/>
        </p:nvPicPr>
        <p:blipFill>
          <a:blip r:embed="rId3"/>
          <a:stretch>
            <a:fillRect/>
          </a:stretch>
        </p:blipFill>
        <p:spPr>
          <a:xfrm>
            <a:off x="822960" y="1051560"/>
            <a:ext cx="10543032" cy="2965228"/>
          </a:xfrm>
          <a:prstGeom prst="rect">
            <a:avLst/>
          </a:prstGeom>
        </p:spPr>
      </p:pic>
      <p:sp>
        <p:nvSpPr>
          <p:cNvPr id="3" name="TextBox 2"/>
          <p:cNvSpPr txBox="1"/>
          <p:nvPr/>
        </p:nvSpPr>
        <p:spPr>
          <a:xfrm>
            <a:off x="822960" y="4434840"/>
            <a:ext cx="10543032" cy="457200"/>
          </a:xfrm>
          <a:prstGeom prst="rect">
            <a:avLst/>
          </a:prstGeom>
          <a:noFill/>
        </p:spPr>
        <p:txBody>
          <a:bodyPr wrap="square" anchor="t" lIns="0" rIns="0" tIns="0" bIns="0">
            <a:spAutoFit/>
          </a:bodyPr>
          <a:lstStyle/>
          <a:p>
            <a:pPr algn="ctr">
              <a:lnSpc>
                <a:spcPct val="115000"/>
              </a:lnSpc>
            </a:pPr>
            <a:r>
              <a:rPr sz="1800" b="0">
                <a:solidFill>
                  <a:srgbClr val="9FD9C8"/>
                </a:solidFill>
                <a:latin typeface="Segoe UI"/>
              </a:rPr>
              <a:t>Your family's records, verified and explained, then a copilot that guides you between doctor visits, in English and 12 Indian languages.</a:t>
            </a:r>
          </a:p>
        </p:txBody>
      </p:sp>
      <p:sp>
        <p:nvSpPr>
          <p:cNvPr id="4" name="Rounded Rectangle 3"/>
          <p:cNvSpPr/>
          <p:nvPr/>
        </p:nvSpPr>
        <p:spPr>
          <a:xfrm>
            <a:off x="2514600" y="5257800"/>
            <a:ext cx="247875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Altrix Labs Hackathon</a:t>
            </a:r>
          </a:p>
        </p:txBody>
      </p:sp>
      <p:sp>
        <p:nvSpPr>
          <p:cNvPr id="5" name="Rounded Rectangle 4"/>
          <p:cNvSpPr/>
          <p:nvPr/>
        </p:nvSpPr>
        <p:spPr>
          <a:xfrm>
            <a:off x="5103083" y="5257800"/>
            <a:ext cx="3843406"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AI-Powered Personal Health Copilot</a:t>
            </a:r>
          </a:p>
        </p:txBody>
      </p:sp>
      <p:sp>
        <p:nvSpPr>
          <p:cNvPr id="6" name="Rounded Rectangle 5"/>
          <p:cNvSpPr/>
          <p:nvPr/>
        </p:nvSpPr>
        <p:spPr>
          <a:xfrm>
            <a:off x="9056217" y="5257800"/>
            <a:ext cx="2058863"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Team hack_masters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THE PROBLEM</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Understanding a report is not </a:t>
            </a:r>
            <a:r>
              <a:rPr sz="3400" b="1">
                <a:solidFill>
                  <a:srgbClr val="7BDBC1"/>
                </a:solidFill>
                <a:latin typeface="Segoe UI"/>
              </a:rPr>
              <a:t>managing your health</a:t>
            </a:r>
          </a:p>
        </p:txBody>
      </p:sp>
      <p:sp>
        <p:nvSpPr>
          <p:cNvPr id="5" name="Rounded Rectangle 4"/>
          <p:cNvSpPr/>
          <p:nvPr/>
        </p:nvSpPr>
        <p:spPr>
          <a:xfrm>
            <a:off x="640080" y="1783080"/>
            <a:ext cx="6309360" cy="1024128"/>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41247" y="198424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1</a:t>
            </a:r>
          </a:p>
        </p:txBody>
      </p:sp>
      <p:sp>
        <p:nvSpPr>
          <p:cNvPr id="7" name="TextBox 6"/>
          <p:cNvSpPr txBox="1"/>
          <p:nvPr/>
        </p:nvSpPr>
        <p:spPr>
          <a:xfrm>
            <a:off x="1508760" y="1965960"/>
            <a:ext cx="525780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Medicines get forgotten</a:t>
            </a:r>
          </a:p>
        </p:txBody>
      </p:sp>
      <p:sp>
        <p:nvSpPr>
          <p:cNvPr id="8" name="TextBox 7"/>
          <p:cNvSpPr txBox="1"/>
          <p:nvPr/>
        </p:nvSpPr>
        <p:spPr>
          <a:xfrm>
            <a:off x="1508760" y="2313432"/>
            <a:ext cx="5257800" cy="429768"/>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Different times, before or after food, courses that end on their own.</a:t>
            </a:r>
          </a:p>
        </p:txBody>
      </p:sp>
      <p:sp>
        <p:nvSpPr>
          <p:cNvPr id="9" name="Rounded Rectangle 8"/>
          <p:cNvSpPr/>
          <p:nvPr/>
        </p:nvSpPr>
        <p:spPr>
          <a:xfrm>
            <a:off x="640080" y="2971800"/>
            <a:ext cx="6309360" cy="1024128"/>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7" y="31729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2</a:t>
            </a:r>
          </a:p>
        </p:txBody>
      </p:sp>
      <p:sp>
        <p:nvSpPr>
          <p:cNvPr id="11" name="TextBox 10"/>
          <p:cNvSpPr txBox="1"/>
          <p:nvPr/>
        </p:nvSpPr>
        <p:spPr>
          <a:xfrm>
            <a:off x="1508760" y="3154680"/>
            <a:ext cx="525780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Follow-ups and repeat tests slip</a:t>
            </a:r>
          </a:p>
        </p:txBody>
      </p:sp>
      <p:sp>
        <p:nvSpPr>
          <p:cNvPr id="12" name="TextBox 11"/>
          <p:cNvSpPr txBox="1"/>
          <p:nvPr/>
        </p:nvSpPr>
        <p:spPr>
          <a:xfrm>
            <a:off x="1508760" y="3502152"/>
            <a:ext cx="5257800" cy="429768"/>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"Review after 1 month" and "repeat HbA1c in 3 months" stay on paper.</a:t>
            </a:r>
          </a:p>
        </p:txBody>
      </p:sp>
      <p:sp>
        <p:nvSpPr>
          <p:cNvPr id="13" name="Rounded Rectangle 12"/>
          <p:cNvSpPr/>
          <p:nvPr/>
        </p:nvSpPr>
        <p:spPr>
          <a:xfrm>
            <a:off x="640080" y="4160520"/>
            <a:ext cx="6309360" cy="1024128"/>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7" y="436168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3</a:t>
            </a:r>
          </a:p>
        </p:txBody>
      </p:sp>
      <p:sp>
        <p:nvSpPr>
          <p:cNvPr id="15" name="TextBox 14"/>
          <p:cNvSpPr txBox="1"/>
          <p:nvPr/>
        </p:nvSpPr>
        <p:spPr>
          <a:xfrm>
            <a:off x="1508760" y="4343400"/>
            <a:ext cx="525780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Nobody knows what to ask</a:t>
            </a:r>
          </a:p>
        </p:txBody>
      </p:sp>
      <p:sp>
        <p:nvSpPr>
          <p:cNvPr id="16" name="TextBox 15"/>
          <p:cNvSpPr txBox="1"/>
          <p:nvPr/>
        </p:nvSpPr>
        <p:spPr>
          <a:xfrm>
            <a:off x="1508760" y="4690872"/>
            <a:ext cx="5257800" cy="429768"/>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Trends across reports go unnoticed until the next visit.</a:t>
            </a:r>
          </a:p>
        </p:txBody>
      </p:sp>
      <p:sp>
        <p:nvSpPr>
          <p:cNvPr id="17" name="Rounded Rectangle 16"/>
          <p:cNvSpPr/>
          <p:nvPr/>
        </p:nvSpPr>
        <p:spPr>
          <a:xfrm>
            <a:off x="640080" y="5349240"/>
            <a:ext cx="6309360" cy="1024128"/>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41247" y="555040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4</a:t>
            </a:r>
          </a:p>
        </p:txBody>
      </p:sp>
      <p:sp>
        <p:nvSpPr>
          <p:cNvPr id="19" name="TextBox 18"/>
          <p:cNvSpPr txBox="1"/>
          <p:nvPr/>
        </p:nvSpPr>
        <p:spPr>
          <a:xfrm>
            <a:off x="1508760" y="5532120"/>
            <a:ext cx="525780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One person carries the family</a:t>
            </a:r>
          </a:p>
        </p:txBody>
      </p:sp>
      <p:sp>
        <p:nvSpPr>
          <p:cNvPr id="20" name="TextBox 19"/>
          <p:cNvSpPr txBox="1"/>
          <p:nvPr/>
        </p:nvSpPr>
        <p:spPr>
          <a:xfrm>
            <a:off x="1508760" y="5879592"/>
            <a:ext cx="5257800" cy="429768"/>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Parents' records, many documents, many languages.</a:t>
            </a:r>
          </a:p>
        </p:txBody>
      </p:sp>
      <p:pic>
        <p:nvPicPr>
          <p:cNvPr id="21" name="Picture 20" descr="rx_handwritten_photo.jpg"/>
          <p:cNvPicPr>
            <a:picLocks noChangeAspect="1"/>
          </p:cNvPicPr>
          <p:nvPr/>
        </p:nvPicPr>
        <p:blipFill>
          <a:blip r:embed="rId3"/>
          <a:stretch>
            <a:fillRect/>
          </a:stretch>
        </p:blipFill>
        <p:spPr>
          <a:xfrm rot="21240000">
            <a:off x="7315200" y="1828800"/>
            <a:ext cx="2103120" cy="2864390"/>
          </a:xfrm>
          <a:prstGeom prst="rect">
            <a:avLst/>
          </a:prstGeom>
          <a:ln w="50800">
            <a:solidFill>
              <a:srgbClr val="FFFFFF"/>
            </a:solidFill>
          </a:ln>
        </p:spPr>
      </p:pic>
      <p:pic>
        <p:nvPicPr>
          <p:cNvPr id="22" name="Picture 21" descr="lab_kft_kannada.png"/>
          <p:cNvPicPr>
            <a:picLocks noChangeAspect="1"/>
          </p:cNvPicPr>
          <p:nvPr/>
        </p:nvPicPr>
        <p:blipFill>
          <a:blip r:embed="rId4"/>
          <a:stretch>
            <a:fillRect/>
          </a:stretch>
        </p:blipFill>
        <p:spPr>
          <a:xfrm rot="300000">
            <a:off x="9509760" y="1737360"/>
            <a:ext cx="2103120" cy="2974897"/>
          </a:xfrm>
          <a:prstGeom prst="rect">
            <a:avLst/>
          </a:prstGeom>
          <a:ln w="50800">
            <a:solidFill>
              <a:srgbClr val="FFFFFF"/>
            </a:solidFill>
          </a:ln>
        </p:spPr>
      </p:pic>
      <p:pic>
        <p:nvPicPr>
          <p:cNvPr id="23" name="Picture 22" descr="rx_bilingual_telugu.png"/>
          <p:cNvPicPr>
            <a:picLocks noChangeAspect="1"/>
          </p:cNvPicPr>
          <p:nvPr/>
        </p:nvPicPr>
        <p:blipFill>
          <a:blip r:embed="rId5"/>
          <a:stretch>
            <a:fillRect/>
          </a:stretch>
        </p:blipFill>
        <p:spPr>
          <a:xfrm rot="21480000">
            <a:off x="8595360" y="3383280"/>
            <a:ext cx="1874519" cy="2651537"/>
          </a:xfrm>
          <a:prstGeom prst="rect">
            <a:avLst/>
          </a:prstGeom>
          <a:ln w="50800">
            <a:solidFill>
              <a:srgbClr val="FFFFFF"/>
            </a:solidFill>
          </a:ln>
        </p:spPr>
      </p:pic>
      <p:sp>
        <p:nvSpPr>
          <p:cNvPr id="24" name="TextBox 23"/>
          <p:cNvSpPr txBox="1"/>
          <p:nvPr/>
        </p:nvSpPr>
        <p:spPr>
          <a:xfrm>
            <a:off x="7315200" y="6446520"/>
            <a:ext cx="4389120" cy="274320"/>
          </a:xfrm>
          <a:prstGeom prst="rect">
            <a:avLst/>
          </a:prstGeom>
          <a:noFill/>
        </p:spPr>
        <p:txBody>
          <a:bodyPr wrap="square" anchor="t" lIns="0" rIns="0" tIns="0" bIns="0">
            <a:spAutoFit/>
          </a:bodyPr>
          <a:lstStyle/>
          <a:p>
            <a:pPr algn="ctr">
              <a:lnSpc>
                <a:spcPct val="115000"/>
              </a:lnSpc>
            </a:pPr>
            <a:r>
              <a:rPr sz="1000" b="0">
                <a:solidFill>
                  <a:srgbClr val="9FD9C8"/>
                </a:solidFill>
                <a:latin typeface="Segoe UI"/>
              </a:rPr>
              <a:t>Synthetic sample documents from the evaluation 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WHAT IT DOES</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A copilot for the whole family</a:t>
            </a:r>
          </a:p>
        </p:txBody>
      </p:sp>
      <p:sp>
        <p:nvSpPr>
          <p:cNvPr id="5" name="TextBox 4"/>
          <p:cNvSpPr txBox="1"/>
          <p:nvPr/>
        </p:nvSpPr>
        <p:spPr>
          <a:xfrm>
            <a:off x="640080" y="1828800"/>
            <a:ext cx="4297680" cy="4114800"/>
          </a:xfrm>
          <a:prstGeom prst="rect">
            <a:avLst/>
          </a:prstGeom>
          <a:noFill/>
        </p:spPr>
        <p:txBody>
          <a:bodyPr wrap="square" anchor="t" lIns="0" rIns="0" tIns="0" bIns="0">
            <a:spAutoFit/>
          </a:bodyPr>
          <a:lstStyle/>
          <a:p>
            <a:pPr algn="l">
              <a:lnSpc>
                <a:spcPct val="120000"/>
              </a:lnSpc>
              <a:spcAft>
                <a:spcPts val="1080"/>
              </a:spcAft>
            </a:pPr>
            <a:r>
              <a:rPr sz="1500" b="1">
                <a:solidFill>
                  <a:srgbClr val="45C2A5"/>
                </a:solidFill>
                <a:latin typeface="Segoe UI"/>
              </a:rPr>
              <a:t>•  </a:t>
            </a:r>
            <a:r>
              <a:rPr sz="1500" b="1">
                <a:solidFill>
                  <a:srgbClr val="FFFFFF"/>
                </a:solidFill>
                <a:latin typeface="Segoe UI"/>
              </a:rPr>
              <a:t>Ask Copilot: </a:t>
            </a:r>
            <a:r>
              <a:rPr sz="1500" b="0">
                <a:solidFill>
                  <a:srgbClr val="9FD9C8"/>
                </a:solidFill>
                <a:latin typeface="Segoe UI"/>
              </a:rPr>
              <a:t>answers from your own records, with sources</a:t>
            </a:r>
          </a:p>
          <a:p>
            <a:pPr algn="l">
              <a:lnSpc>
                <a:spcPct val="120000"/>
              </a:lnSpc>
              <a:spcAft>
                <a:spcPts val="1080"/>
              </a:spcAft>
            </a:pPr>
            <a:r>
              <a:rPr sz="1500" b="1">
                <a:solidFill>
                  <a:srgbClr val="45C2A5"/>
                </a:solidFill>
                <a:latin typeface="Segoe UI"/>
              </a:rPr>
              <a:t>•  </a:t>
            </a:r>
            <a:r>
              <a:rPr sz="1500" b="1">
                <a:solidFill>
                  <a:srgbClr val="FFFFFF"/>
                </a:solidFill>
                <a:latin typeface="Segoe UI"/>
              </a:rPr>
              <a:t>Reminders: </a:t>
            </a:r>
            <a:r>
              <a:rPr sz="1500" b="0">
                <a:solidFill>
                  <a:srgbClr val="9FD9C8"/>
                </a:solidFill>
                <a:latin typeface="Segoe UI"/>
              </a:rPr>
              <a:t>every medicine at the prescription's times, push to the phone</a:t>
            </a:r>
          </a:p>
          <a:p>
            <a:pPr algn="l">
              <a:lnSpc>
                <a:spcPct val="120000"/>
              </a:lnSpc>
              <a:spcAft>
                <a:spcPts val="1080"/>
              </a:spcAft>
            </a:pPr>
            <a:r>
              <a:rPr sz="1500" b="1">
                <a:solidFill>
                  <a:srgbClr val="45C2A5"/>
                </a:solidFill>
                <a:latin typeface="Segoe UI"/>
              </a:rPr>
              <a:t>•  </a:t>
            </a:r>
            <a:r>
              <a:rPr sz="1500" b="1">
                <a:solidFill>
                  <a:srgbClr val="FFFFFF"/>
                </a:solidFill>
                <a:latin typeface="Segoe UI"/>
              </a:rPr>
              <a:t>Insights and risks: </a:t>
            </a:r>
            <a:r>
              <a:rPr sz="1500" b="0">
                <a:solidFill>
                  <a:srgbClr val="9FD9C8"/>
                </a:solidFill>
                <a:latin typeface="Segoe UI"/>
              </a:rPr>
              <a:t>trends across reports, overdue tests</a:t>
            </a:r>
          </a:p>
          <a:p>
            <a:pPr algn="l">
              <a:lnSpc>
                <a:spcPct val="120000"/>
              </a:lnSpc>
              <a:spcAft>
                <a:spcPts val="1080"/>
              </a:spcAft>
            </a:pPr>
            <a:r>
              <a:rPr sz="1500" b="1">
                <a:solidFill>
                  <a:srgbClr val="45C2A5"/>
                </a:solidFill>
                <a:latin typeface="Segoe UI"/>
              </a:rPr>
              <a:t>•  </a:t>
            </a:r>
            <a:r>
              <a:rPr sz="1500" b="1">
                <a:solidFill>
                  <a:srgbClr val="FFFFFF"/>
                </a:solidFill>
                <a:latin typeface="Segoe UI"/>
              </a:rPr>
              <a:t>Wellness: </a:t>
            </a:r>
            <a:r>
              <a:rPr sz="1500" b="0">
                <a:solidFill>
                  <a:srgbClr val="9FD9C8"/>
                </a:solidFill>
                <a:latin typeface="Segoe UI"/>
              </a:rPr>
              <a:t>personal tips, each with a reason</a:t>
            </a:r>
          </a:p>
          <a:p>
            <a:pPr algn="l">
              <a:lnSpc>
                <a:spcPct val="120000"/>
              </a:lnSpc>
              <a:spcAft>
                <a:spcPts val="1080"/>
              </a:spcAft>
            </a:pPr>
            <a:r>
              <a:rPr sz="1500" b="1">
                <a:solidFill>
                  <a:srgbClr val="45C2A5"/>
                </a:solidFill>
                <a:latin typeface="Segoe UI"/>
              </a:rPr>
              <a:t>•  </a:t>
            </a:r>
            <a:r>
              <a:rPr sz="1500" b="1">
                <a:solidFill>
                  <a:srgbClr val="FFFFFF"/>
                </a:solidFill>
                <a:latin typeface="Segoe UI"/>
              </a:rPr>
              <a:t>Acts for you: </a:t>
            </a:r>
            <a:r>
              <a:rPr sz="1500" b="0">
                <a:solidFill>
                  <a:srgbClr val="9FD9C8"/>
                </a:solidFill>
                <a:latin typeface="Segoe UI"/>
              </a:rPr>
              <a:t>schedules, follows up, drafts questions; keep, edit or undo</a:t>
            </a:r>
          </a:p>
          <a:p>
            <a:pPr algn="l">
              <a:lnSpc>
                <a:spcPct val="120000"/>
              </a:lnSpc>
              <a:spcAft>
                <a:spcPts val="1080"/>
              </a:spcAft>
            </a:pPr>
            <a:r>
              <a:rPr sz="1500" b="1">
                <a:solidFill>
                  <a:srgbClr val="45C2A5"/>
                </a:solidFill>
                <a:latin typeface="Segoe UI"/>
              </a:rPr>
              <a:t>•  </a:t>
            </a:r>
            <a:r>
              <a:rPr sz="1500" b="0">
                <a:solidFill>
                  <a:srgbClr val="D7F6EC"/>
                </a:solidFill>
                <a:latin typeface="Segoe UI"/>
              </a:rPr>
              <a:t>Voice, family profiles, 13 languages</a:t>
            </a:r>
          </a:p>
        </p:txBody>
      </p:sp>
      <p:pic>
        <p:nvPicPr>
          <p:cNvPr id="6" name="Picture 5" descr="home.png"/>
          <p:cNvPicPr>
            <a:picLocks noChangeAspect="1"/>
          </p:cNvPicPr>
          <p:nvPr/>
        </p:nvPicPr>
        <p:blipFill>
          <a:blip r:embed="rId3"/>
          <a:stretch>
            <a:fillRect/>
          </a:stretch>
        </p:blipFill>
        <p:spPr>
          <a:xfrm>
            <a:off x="5120640" y="1783080"/>
            <a:ext cx="6492240" cy="3651885"/>
          </a:xfrm>
          <a:prstGeom prst="rect">
            <a:avLst/>
          </a:prstGeom>
          <a:ln w="19050">
            <a:solidFill>
              <a:srgbClr val="24564C"/>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SCENARIO 1 · NEW PRESCRIPTION</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Reminders and questions, </a:t>
            </a:r>
            <a:r>
              <a:rPr sz="3400" b="1">
                <a:solidFill>
                  <a:srgbClr val="7BDBC1"/>
                </a:solidFill>
                <a:latin typeface="Segoe UI"/>
              </a:rPr>
              <a:t>scheduled by the copilot</a:t>
            </a:r>
          </a:p>
        </p:txBody>
      </p:sp>
      <p:pic>
        <p:nvPicPr>
          <p:cNvPr id="5" name="Picture 4" descr="rx.png"/>
          <p:cNvPicPr>
            <a:picLocks noChangeAspect="1"/>
          </p:cNvPicPr>
          <p:nvPr/>
        </p:nvPicPr>
        <p:blipFill>
          <a:blip r:embed="rId3"/>
          <a:stretch>
            <a:fillRect/>
          </a:stretch>
        </p:blipFill>
        <p:spPr>
          <a:xfrm>
            <a:off x="640080" y="1783080"/>
            <a:ext cx="6675120" cy="3754755"/>
          </a:xfrm>
          <a:prstGeom prst="rect">
            <a:avLst/>
          </a:prstGeom>
          <a:ln w="19050">
            <a:solidFill>
              <a:srgbClr val="24564C"/>
            </a:solidFill>
          </a:ln>
        </p:spPr>
      </p:pic>
      <p:sp>
        <p:nvSpPr>
          <p:cNvPr id="6" name="TextBox 5"/>
          <p:cNvSpPr txBox="1"/>
          <p:nvPr/>
        </p:nvSpPr>
        <p:spPr>
          <a:xfrm>
            <a:off x="7680960" y="1828800"/>
            <a:ext cx="393192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1">
                <a:solidFill>
                  <a:srgbClr val="FFFFFF"/>
                </a:solidFill>
                <a:latin typeface="Segoe UI"/>
              </a:rPr>
              <a:t>On confirm: </a:t>
            </a:r>
            <a:r>
              <a:rPr sz="1400" b="0">
                <a:solidFill>
                  <a:srgbClr val="9FD9C8"/>
                </a:solidFill>
                <a:latin typeface="Segoe UI"/>
              </a:rPr>
              <a:t>Azee once a day for 5 days, Pan 40 before breakfast</a:t>
            </a:r>
          </a:p>
          <a:p>
            <a:pPr algn="l">
              <a:lnSpc>
                <a:spcPct val="120000"/>
              </a:lnSpc>
              <a:spcAft>
                <a:spcPts val="1008"/>
              </a:spcAft>
            </a:pPr>
            <a:r>
              <a:rPr sz="1400" b="1">
                <a:solidFill>
                  <a:srgbClr val="45C2A5"/>
                </a:solidFill>
                <a:latin typeface="Segoe UI"/>
              </a:rPr>
              <a:t>•  </a:t>
            </a:r>
            <a:r>
              <a:rPr sz="1400" b="1">
                <a:solidFill>
                  <a:srgbClr val="FFFFFF"/>
                </a:solidFill>
                <a:latin typeface="Segoe UI"/>
              </a:rPr>
              <a:t>Skipped on purpose: </a:t>
            </a:r>
            <a:r>
              <a:rPr sz="1400" b="0">
                <a:solidFill>
                  <a:srgbClr val="9FD9C8"/>
                </a:solidFill>
                <a:latin typeface="Segoe UI"/>
              </a:rPr>
              <a:t>Dolo is SOS, so no reminder</a:t>
            </a:r>
          </a:p>
          <a:p>
            <a:pPr algn="l">
              <a:lnSpc>
                <a:spcPct val="120000"/>
              </a:lnSpc>
              <a:spcAft>
                <a:spcPts val="1008"/>
              </a:spcAft>
            </a:pPr>
            <a:r>
              <a:rPr sz="1400" b="1">
                <a:solidFill>
                  <a:srgbClr val="45C2A5"/>
                </a:solidFill>
                <a:latin typeface="Segoe UI"/>
              </a:rPr>
              <a:t>•  </a:t>
            </a:r>
            <a:r>
              <a:rPr sz="1400" b="1">
                <a:solidFill>
                  <a:srgbClr val="FFFFFF"/>
                </a:solidFill>
                <a:latin typeface="Segoe UI"/>
              </a:rPr>
              <a:t>Follow-up: </a:t>
            </a:r>
            <a:r>
              <a:rPr sz="1400" b="0">
                <a:solidFill>
                  <a:srgbClr val="9FD9C8"/>
                </a:solidFill>
                <a:latin typeface="Segoe UI"/>
              </a:rPr>
              <a:t>"review after 5 days" becomes a dated visit</a:t>
            </a:r>
          </a:p>
          <a:p>
            <a:pPr algn="l">
              <a:lnSpc>
                <a:spcPct val="120000"/>
              </a:lnSpc>
              <a:spcAft>
                <a:spcPts val="1008"/>
              </a:spcAft>
            </a:pPr>
            <a:r>
              <a:rPr sz="1400" b="1">
                <a:solidFill>
                  <a:srgbClr val="45C2A5"/>
                </a:solidFill>
                <a:latin typeface="Segoe UI"/>
              </a:rPr>
              <a:t>•  </a:t>
            </a:r>
            <a:r>
              <a:rPr sz="1400" b="0">
                <a:solidFill>
                  <a:srgbClr val="D7F6EC"/>
                </a:solidFill>
                <a:latin typeface="Segoe UI"/>
              </a:rPr>
              <a:t>Three questions for the next visit, editable, with a printable visit sheet</a:t>
            </a:r>
          </a:p>
          <a:p>
            <a:pPr algn="l">
              <a:lnSpc>
                <a:spcPct val="120000"/>
              </a:lnSpc>
              <a:spcAft>
                <a:spcPts val="1008"/>
              </a:spcAft>
            </a:pPr>
            <a:r>
              <a:rPr sz="1400" b="1">
                <a:solidFill>
                  <a:srgbClr val="45C2A5"/>
                </a:solidFill>
                <a:latin typeface="Segoe UI"/>
              </a:rPr>
              <a:t>•  </a:t>
            </a:r>
            <a:r>
              <a:rPr sz="1400" b="1">
                <a:solidFill>
                  <a:srgbClr val="FFFFFF"/>
                </a:solidFill>
                <a:latin typeface="Segoe UI"/>
              </a:rPr>
              <a:t>Every action: </a:t>
            </a:r>
            <a:r>
              <a:rPr sz="1400" b="0">
                <a:solidFill>
                  <a:srgbClr val="9FD9C8"/>
                </a:solidFill>
                <a:latin typeface="Segoe UI"/>
              </a:rPr>
              <a:t>Keep, Edit or Undo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REMINDERS</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The whole family's day, </a:t>
            </a:r>
            <a:r>
              <a:rPr sz="3400" b="1">
                <a:solidFill>
                  <a:srgbClr val="7BDBC1"/>
                </a:solidFill>
                <a:latin typeface="Segoe UI"/>
              </a:rPr>
              <a:t>on one screen</a:t>
            </a:r>
          </a:p>
        </p:txBody>
      </p:sp>
      <p:pic>
        <p:nvPicPr>
          <p:cNvPr id="5" name="Picture 4" descr="reminders.png"/>
          <p:cNvPicPr>
            <a:picLocks noChangeAspect="1"/>
          </p:cNvPicPr>
          <p:nvPr/>
        </p:nvPicPr>
        <p:blipFill>
          <a:blip r:embed="rId3"/>
          <a:stretch>
            <a:fillRect/>
          </a:stretch>
        </p:blipFill>
        <p:spPr>
          <a:xfrm>
            <a:off x="640080" y="1783080"/>
            <a:ext cx="6675120" cy="3754755"/>
          </a:xfrm>
          <a:prstGeom prst="rect">
            <a:avLst/>
          </a:prstGeom>
          <a:ln w="19050">
            <a:solidFill>
              <a:srgbClr val="24564C"/>
            </a:solidFill>
          </a:ln>
        </p:spPr>
      </p:pic>
      <p:sp>
        <p:nvSpPr>
          <p:cNvPr id="6" name="TextBox 5"/>
          <p:cNvSpPr txBox="1"/>
          <p:nvPr/>
        </p:nvSpPr>
        <p:spPr>
          <a:xfrm>
            <a:off x="7680960" y="1828800"/>
            <a:ext cx="393192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0">
                <a:solidFill>
                  <a:srgbClr val="D7F6EC"/>
                </a:solidFill>
                <a:latin typeface="Segoe UI"/>
              </a:rPr>
              <a:t>Taken, Snooze 15 min or Skip, from the app or the notification</a:t>
            </a:r>
          </a:p>
          <a:p>
            <a:pPr algn="l">
              <a:lnSpc>
                <a:spcPct val="120000"/>
              </a:lnSpc>
              <a:spcAft>
                <a:spcPts val="1008"/>
              </a:spcAft>
            </a:pPr>
            <a:r>
              <a:rPr sz="1400" b="1">
                <a:solidFill>
                  <a:srgbClr val="45C2A5"/>
                </a:solidFill>
                <a:latin typeface="Segoe UI"/>
              </a:rPr>
              <a:t>•  </a:t>
            </a:r>
            <a:r>
              <a:rPr sz="1400" b="1">
                <a:solidFill>
                  <a:srgbClr val="FFFFFF"/>
                </a:solidFill>
                <a:latin typeface="Segoe UI"/>
              </a:rPr>
              <a:t>Courses end by themselves: </a:t>
            </a:r>
            <a:r>
              <a:rPr sz="1400" b="0">
                <a:solidFill>
                  <a:srgbClr val="9FD9C8"/>
                </a:solidFill>
                <a:latin typeface="Segoe UI"/>
              </a:rPr>
              <a:t>the antibiotic stops after 5 days</a:t>
            </a:r>
          </a:p>
          <a:p>
            <a:pPr algn="l">
              <a:lnSpc>
                <a:spcPct val="120000"/>
              </a:lnSpc>
              <a:spcAft>
                <a:spcPts val="1008"/>
              </a:spcAft>
            </a:pPr>
            <a:r>
              <a:rPr sz="1400" b="1">
                <a:solidFill>
                  <a:srgbClr val="45C2A5"/>
                </a:solidFill>
                <a:latin typeface="Segoe UI"/>
              </a:rPr>
              <a:t>•  </a:t>
            </a:r>
            <a:r>
              <a:rPr sz="1400" b="0">
                <a:solidFill>
                  <a:srgbClr val="D7F6EC"/>
                </a:solidFill>
                <a:latin typeface="Segoe UI"/>
              </a:rPr>
              <a:t>Edit, pause or stop any reminder</a:t>
            </a:r>
          </a:p>
          <a:p>
            <a:pPr algn="l">
              <a:lnSpc>
                <a:spcPct val="120000"/>
              </a:lnSpc>
              <a:spcAft>
                <a:spcPts val="1008"/>
              </a:spcAft>
            </a:pPr>
            <a:r>
              <a:rPr sz="1400" b="1">
                <a:solidFill>
                  <a:srgbClr val="45C2A5"/>
                </a:solidFill>
                <a:latin typeface="Segoe UI"/>
              </a:rPr>
              <a:t>•  </a:t>
            </a:r>
            <a:r>
              <a:rPr sz="1400" b="0">
                <a:solidFill>
                  <a:srgbClr val="D7F6EC"/>
                </a:solidFill>
                <a:latin typeface="Segoe UI"/>
              </a:rPr>
              <a:t>Visits and tests read from the doctor's notes</a:t>
            </a:r>
          </a:p>
          <a:p>
            <a:pPr algn="l">
              <a:lnSpc>
                <a:spcPct val="120000"/>
              </a:lnSpc>
              <a:spcAft>
                <a:spcPts val="1008"/>
              </a:spcAft>
            </a:pPr>
            <a:r>
              <a:rPr sz="1400" b="1">
                <a:solidFill>
                  <a:srgbClr val="45C2A5"/>
                </a:solidFill>
                <a:latin typeface="Segoe UI"/>
              </a:rPr>
              <a:t>•  </a:t>
            </a:r>
            <a:r>
              <a:rPr sz="1400" b="0">
                <a:solidFill>
                  <a:srgbClr val="D7F6EC"/>
                </a:solidFill>
                <a:latin typeface="Segoe UI"/>
              </a:rPr>
              <a:t>Web Push reaches the phone even when the app is closed, in the person's language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SCENARIO 2 · FATHER'S RISING SUGAR</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HbA1c 7.4 → 7.9 → 8.6%, </a:t>
            </a:r>
            <a:r>
              <a:rPr sz="3400" b="1">
                <a:solidFill>
                  <a:srgbClr val="7BDBC1"/>
                </a:solidFill>
                <a:latin typeface="Segoe UI"/>
              </a:rPr>
              <a:t>flagged with its sources</a:t>
            </a:r>
          </a:p>
        </p:txBody>
      </p:sp>
      <p:pic>
        <p:nvPicPr>
          <p:cNvPr id="5" name="Picture 4" descr="insights.png"/>
          <p:cNvPicPr>
            <a:picLocks noChangeAspect="1"/>
          </p:cNvPicPr>
          <p:nvPr/>
        </p:nvPicPr>
        <p:blipFill>
          <a:blip r:embed="rId3"/>
          <a:stretch>
            <a:fillRect/>
          </a:stretch>
        </p:blipFill>
        <p:spPr>
          <a:xfrm>
            <a:off x="640080" y="1783080"/>
            <a:ext cx="6675120" cy="3754755"/>
          </a:xfrm>
          <a:prstGeom prst="rect">
            <a:avLst/>
          </a:prstGeom>
          <a:ln w="19050">
            <a:solidFill>
              <a:srgbClr val="24564C"/>
            </a:solidFill>
          </a:ln>
        </p:spPr>
      </p:pic>
      <p:sp>
        <p:nvSpPr>
          <p:cNvPr id="6" name="TextBox 5"/>
          <p:cNvSpPr txBox="1"/>
          <p:nvPr/>
        </p:nvSpPr>
        <p:spPr>
          <a:xfrm>
            <a:off x="7680960" y="1828800"/>
            <a:ext cx="393192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1">
                <a:solidFill>
                  <a:srgbClr val="FFFFFF"/>
                </a:solidFill>
                <a:latin typeface="Segoe UI"/>
              </a:rPr>
              <a:t>Trend: </a:t>
            </a:r>
            <a:r>
              <a:rPr sz="1400" b="0">
                <a:solidFill>
                  <a:srgbClr val="9FD9C8"/>
                </a:solidFill>
                <a:latin typeface="Segoe UI"/>
              </a:rPr>
              <a:t>above range in 3 reports and still rising</a:t>
            </a:r>
          </a:p>
          <a:p>
            <a:pPr algn="l">
              <a:lnSpc>
                <a:spcPct val="120000"/>
              </a:lnSpc>
              <a:spcAft>
                <a:spcPts val="1008"/>
              </a:spcAft>
            </a:pPr>
            <a:r>
              <a:rPr sz="1400" b="1">
                <a:solidFill>
                  <a:srgbClr val="45C2A5"/>
                </a:solidFill>
                <a:latin typeface="Segoe UI"/>
              </a:rPr>
              <a:t>•  </a:t>
            </a:r>
            <a:r>
              <a:rPr sz="1400" b="1">
                <a:solidFill>
                  <a:srgbClr val="FFFFFF"/>
                </a:solidFill>
                <a:latin typeface="Segoe UI"/>
              </a:rPr>
              <a:t>Cited: </a:t>
            </a:r>
            <a:r>
              <a:rPr sz="1400" b="0">
                <a:solidFill>
                  <a:srgbClr val="9FD9C8"/>
                </a:solidFill>
                <a:latin typeface="Segoe UI"/>
              </a:rPr>
              <a:t>each result with its date, linked to the source report</a:t>
            </a:r>
          </a:p>
          <a:p>
            <a:pPr algn="l">
              <a:lnSpc>
                <a:spcPct val="120000"/>
              </a:lnSpc>
              <a:spcAft>
                <a:spcPts val="1008"/>
              </a:spcAft>
            </a:pPr>
            <a:r>
              <a:rPr sz="1400" b="1">
                <a:solidFill>
                  <a:srgbClr val="45C2A5"/>
                </a:solidFill>
                <a:latin typeface="Segoe UI"/>
              </a:rPr>
              <a:t>•  </a:t>
            </a:r>
            <a:r>
              <a:rPr sz="1400" b="1">
                <a:solidFill>
                  <a:srgbClr val="FFFFFF"/>
                </a:solidFill>
                <a:latin typeface="Segoe UI"/>
              </a:rPr>
              <a:t>Combinations: </a:t>
            </a:r>
            <a:r>
              <a:rPr sz="1400" b="0">
                <a:solidFill>
                  <a:srgbClr val="9FD9C8"/>
                </a:solidFill>
                <a:latin typeface="Segoe UI"/>
              </a:rPr>
              <a:t>high sugar with high LDL, kidney results alongside diabetes</a:t>
            </a:r>
          </a:p>
          <a:p>
            <a:pPr algn="l">
              <a:lnSpc>
                <a:spcPct val="120000"/>
              </a:lnSpc>
              <a:spcAft>
                <a:spcPts val="1008"/>
              </a:spcAft>
            </a:pPr>
            <a:r>
              <a:rPr sz="1400" b="1">
                <a:solidFill>
                  <a:srgbClr val="45C2A5"/>
                </a:solidFill>
                <a:latin typeface="Segoe UI"/>
              </a:rPr>
              <a:t>•  </a:t>
            </a:r>
            <a:r>
              <a:rPr sz="1400" b="0">
                <a:solidFill>
                  <a:srgbClr val="D7F6EC"/>
                </a:solidFill>
                <a:latin typeface="Segoe UI"/>
              </a:rPr>
              <a:t>Worked out in code from his own results, worded for the doctor, never a diagnosis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PREVENTIVE STEPS AND WELLNESS</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What's overdue, and </a:t>
            </a:r>
            <a:r>
              <a:rPr sz="3400" b="1">
                <a:solidFill>
                  <a:srgbClr val="7BDBC1"/>
                </a:solidFill>
                <a:latin typeface="Segoe UI"/>
              </a:rPr>
              <a:t>why each tip</a:t>
            </a:r>
          </a:p>
        </p:txBody>
      </p:sp>
      <p:pic>
        <p:nvPicPr>
          <p:cNvPr id="5" name="Picture 4" descr="preventive.png"/>
          <p:cNvPicPr>
            <a:picLocks noChangeAspect="1"/>
          </p:cNvPicPr>
          <p:nvPr/>
        </p:nvPicPr>
        <p:blipFill>
          <a:blip r:embed="rId3"/>
          <a:stretch>
            <a:fillRect/>
          </a:stretch>
        </p:blipFill>
        <p:spPr>
          <a:xfrm>
            <a:off x="640080" y="1783080"/>
            <a:ext cx="6675120" cy="3754755"/>
          </a:xfrm>
          <a:prstGeom prst="rect">
            <a:avLst/>
          </a:prstGeom>
          <a:ln w="19050">
            <a:solidFill>
              <a:srgbClr val="24564C"/>
            </a:solidFill>
          </a:ln>
        </p:spPr>
      </p:pic>
      <p:sp>
        <p:nvSpPr>
          <p:cNvPr id="6" name="TextBox 5"/>
          <p:cNvSpPr txBox="1"/>
          <p:nvPr/>
        </p:nvSpPr>
        <p:spPr>
          <a:xfrm>
            <a:off x="7680960" y="1828800"/>
            <a:ext cx="393192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1">
                <a:solidFill>
                  <a:srgbClr val="FFFFFF"/>
                </a:solidFill>
                <a:latin typeface="Segoe UI"/>
              </a:rPr>
              <a:t>Overdue: </a:t>
            </a:r>
            <a:r>
              <a:rPr sz="1400" b="0">
                <a:solidFill>
                  <a:srgbClr val="9FD9C8"/>
                </a:solidFill>
                <a:latin typeface="Segoe UI"/>
              </a:rPr>
              <a:t>the follow-up visit and the repeat HbA1c</a:t>
            </a:r>
          </a:p>
          <a:p>
            <a:pPr algn="l">
              <a:lnSpc>
                <a:spcPct val="120000"/>
              </a:lnSpc>
              <a:spcAft>
                <a:spcPts val="1008"/>
              </a:spcAft>
            </a:pPr>
            <a:r>
              <a:rPr sz="1400" b="1">
                <a:solidFill>
                  <a:srgbClr val="45C2A5"/>
                </a:solidFill>
                <a:latin typeface="Segoe UI"/>
              </a:rPr>
              <a:t>•  </a:t>
            </a:r>
            <a:r>
              <a:rPr sz="1400" b="1">
                <a:solidFill>
                  <a:srgbClr val="FFFFFF"/>
                </a:solidFill>
                <a:latin typeface="Segoe UI"/>
              </a:rPr>
              <a:t>Screenings for his age and conditions: </a:t>
            </a:r>
            <a:r>
              <a:rPr sz="1400" b="0">
                <a:solidFill>
                  <a:srgbClr val="9FD9C8"/>
                </a:solidFill>
                <a:latin typeface="Segoe UI"/>
              </a:rPr>
              <a:t>eye check, foot check, urine albumin, vaccines</a:t>
            </a:r>
          </a:p>
          <a:p>
            <a:pPr algn="l">
              <a:lnSpc>
                <a:spcPct val="120000"/>
              </a:lnSpc>
              <a:spcAft>
                <a:spcPts val="1008"/>
              </a:spcAft>
            </a:pPr>
            <a:r>
              <a:rPr sz="1400" b="1">
                <a:solidFill>
                  <a:srgbClr val="45C2A5"/>
                </a:solidFill>
                <a:latin typeface="Segoe UI"/>
              </a:rPr>
              <a:t>•  </a:t>
            </a:r>
            <a:r>
              <a:rPr sz="1400" b="1">
                <a:solidFill>
                  <a:srgbClr val="FFFFFF"/>
                </a:solidFill>
                <a:latin typeface="Segoe UI"/>
              </a:rPr>
              <a:t>Wellness plan: </a:t>
            </a:r>
            <a:r>
              <a:rPr sz="1400" b="0">
                <a:solidFill>
                  <a:srgbClr val="9FD9C8"/>
                </a:solidFill>
                <a:latin typeface="Segoe UI"/>
              </a:rPr>
              <a:t>diet, activity and habits, each with "Why" from his values</a:t>
            </a:r>
          </a:p>
          <a:p>
            <a:pPr algn="l">
              <a:lnSpc>
                <a:spcPct val="120000"/>
              </a:lnSpc>
              <a:spcAft>
                <a:spcPts val="1008"/>
              </a:spcAft>
            </a:pPr>
            <a:r>
              <a:rPr sz="1400" b="1">
                <a:solidFill>
                  <a:srgbClr val="45C2A5"/>
                </a:solidFill>
                <a:latin typeface="Segoe UI"/>
              </a:rPr>
              <a:t>•  </a:t>
            </a:r>
            <a:r>
              <a:rPr sz="1400" b="1">
                <a:solidFill>
                  <a:srgbClr val="FFFFFF"/>
                </a:solidFill>
                <a:latin typeface="Segoe UI"/>
              </a:rPr>
              <a:t>One click: </a:t>
            </a:r>
            <a:r>
              <a:rPr sz="1400" b="0">
                <a:solidFill>
                  <a:srgbClr val="9FD9C8"/>
                </a:solidFill>
                <a:latin typeface="Segoe UI"/>
              </a:rPr>
              <a:t>add a due test to reminders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ASK COPILOT</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Grounded, honest and </a:t>
            </a:r>
            <a:r>
              <a:rPr sz="3400" b="1">
                <a:solidFill>
                  <a:srgbClr val="7BDBC1"/>
                </a:solidFill>
                <a:latin typeface="Segoe UI"/>
              </a:rPr>
              <a:t>safe</a:t>
            </a:r>
          </a:p>
        </p:txBody>
      </p:sp>
      <p:pic>
        <p:nvPicPr>
          <p:cNvPr id="5" name="Picture 4" descr="chat.png"/>
          <p:cNvPicPr>
            <a:picLocks noChangeAspect="1"/>
          </p:cNvPicPr>
          <p:nvPr/>
        </p:nvPicPr>
        <p:blipFill>
          <a:blip r:embed="rId3"/>
          <a:stretch>
            <a:fillRect/>
          </a:stretch>
        </p:blipFill>
        <p:spPr>
          <a:xfrm>
            <a:off x="640080" y="1783080"/>
            <a:ext cx="6675120" cy="3754755"/>
          </a:xfrm>
          <a:prstGeom prst="rect">
            <a:avLst/>
          </a:prstGeom>
          <a:ln w="19050">
            <a:solidFill>
              <a:srgbClr val="24564C"/>
            </a:solidFill>
          </a:ln>
        </p:spPr>
      </p:pic>
      <p:sp>
        <p:nvSpPr>
          <p:cNvPr id="6" name="TextBox 5"/>
          <p:cNvSpPr txBox="1"/>
          <p:nvPr/>
        </p:nvSpPr>
        <p:spPr>
          <a:xfrm>
            <a:off x="7680960" y="1828800"/>
            <a:ext cx="393192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1">
                <a:solidFill>
                  <a:srgbClr val="FFFFFF"/>
                </a:solidFill>
                <a:latin typeface="Segoe UI"/>
              </a:rPr>
              <a:t>Grounded: </a:t>
            </a:r>
            <a:r>
              <a:rPr sz="1400" b="0">
                <a:solidFill>
                  <a:srgbClr val="9FD9C8"/>
                </a:solidFill>
                <a:latin typeface="Segoe UI"/>
              </a:rPr>
              <a:t>answers only from the person's records, with the results it used</a:t>
            </a:r>
          </a:p>
          <a:p>
            <a:pPr algn="l">
              <a:lnSpc>
                <a:spcPct val="120000"/>
              </a:lnSpc>
              <a:spcAft>
                <a:spcPts val="1008"/>
              </a:spcAft>
            </a:pPr>
            <a:r>
              <a:rPr sz="1400" b="1">
                <a:solidFill>
                  <a:srgbClr val="45C2A5"/>
                </a:solidFill>
                <a:latin typeface="Segoe UI"/>
              </a:rPr>
              <a:t>•  </a:t>
            </a:r>
            <a:r>
              <a:rPr sz="1400" b="1">
                <a:solidFill>
                  <a:srgbClr val="FFFFFF"/>
                </a:solidFill>
                <a:latin typeface="Segoe UI"/>
              </a:rPr>
              <a:t>Honest: </a:t>
            </a:r>
            <a:r>
              <a:rPr sz="1400" b="0">
                <a:solidFill>
                  <a:srgbClr val="9FD9C8"/>
                </a:solidFill>
                <a:latin typeface="Segoe UI"/>
              </a:rPr>
              <a:t>if it isn't in the records, it says so</a:t>
            </a:r>
          </a:p>
          <a:p>
            <a:pPr algn="l">
              <a:lnSpc>
                <a:spcPct val="120000"/>
              </a:lnSpc>
              <a:spcAft>
                <a:spcPts val="1008"/>
              </a:spcAft>
            </a:pPr>
            <a:r>
              <a:rPr sz="1400" b="1">
                <a:solidFill>
                  <a:srgbClr val="45C2A5"/>
                </a:solidFill>
                <a:latin typeface="Segoe UI"/>
              </a:rPr>
              <a:t>•  </a:t>
            </a:r>
            <a:r>
              <a:rPr sz="1400" b="1">
                <a:solidFill>
                  <a:srgbClr val="FFFFFF"/>
                </a:solidFill>
                <a:latin typeface="Segoe UI"/>
              </a:rPr>
              <a:t>Safe: </a:t>
            </a:r>
            <a:r>
              <a:rPr sz="1400" b="0">
                <a:solidFill>
                  <a:srgbClr val="9FD9C8"/>
                </a:solidFill>
                <a:latin typeface="Segoe UI"/>
              </a:rPr>
              <a:t>never changes a medicine or dose; emergencies point to 112</a:t>
            </a:r>
          </a:p>
          <a:p>
            <a:pPr algn="l">
              <a:lnSpc>
                <a:spcPct val="120000"/>
              </a:lnSpc>
              <a:spcAft>
                <a:spcPts val="1008"/>
              </a:spcAft>
            </a:pPr>
            <a:r>
              <a:rPr sz="1400" b="1">
                <a:solidFill>
                  <a:srgbClr val="45C2A5"/>
                </a:solidFill>
                <a:latin typeface="Segoe UI"/>
              </a:rPr>
              <a:t>•  </a:t>
            </a:r>
            <a:r>
              <a:rPr sz="1400" b="0">
                <a:solidFill>
                  <a:srgbClr val="D7F6EC"/>
                </a:solidFill>
                <a:latin typeface="Segoe UI"/>
              </a:rPr>
              <a:t>Follow-up questions suggested after every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SCENARIO 3 · ELDERLY USER, BY VOICE</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"ఈ రాత్రి నేను ఏ మందులు వేసుకోవాలి?"</a:t>
            </a:r>
          </a:p>
        </p:txBody>
      </p:sp>
      <p:pic>
        <p:nvPicPr>
          <p:cNvPr id="5" name="Picture 4" descr="voice.png"/>
          <p:cNvPicPr>
            <a:picLocks noChangeAspect="1"/>
          </p:cNvPicPr>
          <p:nvPr/>
        </p:nvPicPr>
        <p:blipFill>
          <a:blip r:embed="rId3"/>
          <a:stretch>
            <a:fillRect/>
          </a:stretch>
        </p:blipFill>
        <p:spPr>
          <a:xfrm>
            <a:off x="640080" y="1783080"/>
            <a:ext cx="6675120" cy="3754755"/>
          </a:xfrm>
          <a:prstGeom prst="rect">
            <a:avLst/>
          </a:prstGeom>
          <a:ln w="19050">
            <a:solidFill>
              <a:srgbClr val="24564C"/>
            </a:solidFill>
          </a:ln>
        </p:spPr>
      </p:pic>
      <p:sp>
        <p:nvSpPr>
          <p:cNvPr id="6" name="TextBox 5"/>
          <p:cNvSpPr txBox="1"/>
          <p:nvPr/>
        </p:nvSpPr>
        <p:spPr>
          <a:xfrm>
            <a:off x="7680960" y="1828800"/>
            <a:ext cx="393192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1">
                <a:solidFill>
                  <a:srgbClr val="FFFFFF"/>
                </a:solidFill>
                <a:latin typeface="Segoe UI"/>
              </a:rPr>
              <a:t>Ask by voice: </a:t>
            </a:r>
            <a:r>
              <a:rPr sz="1400" b="0">
                <a:solidFill>
                  <a:srgbClr val="9FD9C8"/>
                </a:solidFill>
                <a:latin typeface="Segoe UI"/>
              </a:rPr>
              <a:t>"Which medicines do I take tonight?" in Telugu</a:t>
            </a:r>
          </a:p>
          <a:p>
            <a:pPr algn="l">
              <a:lnSpc>
                <a:spcPct val="120000"/>
              </a:lnSpc>
              <a:spcAft>
                <a:spcPts val="1008"/>
              </a:spcAft>
            </a:pPr>
            <a:r>
              <a:rPr sz="1400" b="1">
                <a:solidFill>
                  <a:srgbClr val="45C2A5"/>
                </a:solidFill>
                <a:latin typeface="Segoe UI"/>
              </a:rPr>
              <a:t>•  </a:t>
            </a:r>
            <a:r>
              <a:rPr sz="1400" b="1">
                <a:solidFill>
                  <a:srgbClr val="FFFFFF"/>
                </a:solidFill>
                <a:latin typeface="Segoe UI"/>
              </a:rPr>
              <a:t>Answer from her own reminder schedule: </a:t>
            </a:r>
            <a:r>
              <a:rPr sz="1400" b="0">
                <a:solidFill>
                  <a:srgbClr val="9FD9C8"/>
                </a:solidFill>
                <a:latin typeface="Segoe UI"/>
              </a:rPr>
              <a:t>Orofer XT and Shelcal at 10 PM</a:t>
            </a:r>
          </a:p>
          <a:p>
            <a:pPr algn="l">
              <a:lnSpc>
                <a:spcPct val="120000"/>
              </a:lnSpc>
              <a:spcAft>
                <a:spcPts val="1008"/>
              </a:spcAft>
            </a:pPr>
            <a:r>
              <a:rPr sz="1400" b="1">
                <a:solidFill>
                  <a:srgbClr val="45C2A5"/>
                </a:solidFill>
                <a:latin typeface="Segoe UI"/>
              </a:rPr>
              <a:t>•  </a:t>
            </a:r>
            <a:r>
              <a:rPr sz="1400" b="0">
                <a:solidFill>
                  <a:srgbClr val="D7F6EC"/>
                </a:solidFill>
                <a:latin typeface="Segoe UI"/>
              </a:rPr>
              <a:t>Read aloud in Telugu; Speak replies reads every answer</a:t>
            </a:r>
          </a:p>
          <a:p>
            <a:pPr algn="l">
              <a:lnSpc>
                <a:spcPct val="120000"/>
              </a:lnSpc>
              <a:spcAft>
                <a:spcPts val="1008"/>
              </a:spcAft>
            </a:pPr>
            <a:r>
              <a:rPr sz="1400" b="1">
                <a:solidFill>
                  <a:srgbClr val="45C2A5"/>
                </a:solidFill>
                <a:latin typeface="Segoe UI"/>
              </a:rPr>
              <a:t>•  </a:t>
            </a:r>
            <a:r>
              <a:rPr sz="1400" b="0">
                <a:solidFill>
                  <a:srgbClr val="D7F6EC"/>
                </a:solidFill>
                <a:latin typeface="Segoe UI"/>
              </a:rPr>
              <a:t>Listens in each family member's language, with pauses for slow speakers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IN YOUR LANGUAGE</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English and 12 Indian languages</a:t>
            </a:r>
          </a:p>
        </p:txBody>
      </p:sp>
      <p:pic>
        <p:nvPicPr>
          <p:cNvPr id="5" name="Picture 4" descr="languages.png"/>
          <p:cNvPicPr>
            <a:picLocks noChangeAspect="1"/>
          </p:cNvPicPr>
          <p:nvPr/>
        </p:nvPicPr>
        <p:blipFill>
          <a:blip r:embed="rId3"/>
          <a:stretch>
            <a:fillRect/>
          </a:stretch>
        </p:blipFill>
        <p:spPr>
          <a:xfrm>
            <a:off x="640080" y="1783080"/>
            <a:ext cx="6675120" cy="3754755"/>
          </a:xfrm>
          <a:prstGeom prst="rect">
            <a:avLst/>
          </a:prstGeom>
          <a:ln w="19050">
            <a:solidFill>
              <a:srgbClr val="24564C"/>
            </a:solidFill>
          </a:ln>
        </p:spPr>
      </p:pic>
      <p:sp>
        <p:nvSpPr>
          <p:cNvPr id="6" name="Rounded Rectangle 5"/>
          <p:cNvSpPr/>
          <p:nvPr/>
        </p:nvSpPr>
        <p:spPr>
          <a:xfrm>
            <a:off x="7680960" y="1874519"/>
            <a:ext cx="95664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English</a:t>
            </a:r>
          </a:p>
        </p:txBody>
      </p:sp>
      <p:sp>
        <p:nvSpPr>
          <p:cNvPr id="7" name="Rounded Rectangle 6"/>
          <p:cNvSpPr/>
          <p:nvPr/>
        </p:nvSpPr>
        <p:spPr>
          <a:xfrm>
            <a:off x="8747333" y="1874519"/>
            <a:ext cx="859170"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हिन्दी</a:t>
            </a:r>
          </a:p>
        </p:txBody>
      </p:sp>
      <p:sp>
        <p:nvSpPr>
          <p:cNvPr id="8" name="Rounded Rectangle 7"/>
          <p:cNvSpPr/>
          <p:nvPr/>
        </p:nvSpPr>
        <p:spPr>
          <a:xfrm>
            <a:off x="9716231" y="1874519"/>
            <a:ext cx="76169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বাংলা</a:t>
            </a:r>
          </a:p>
        </p:txBody>
      </p:sp>
      <p:sp>
        <p:nvSpPr>
          <p:cNvPr id="9" name="Rounded Rectangle 8"/>
          <p:cNvSpPr/>
          <p:nvPr/>
        </p:nvSpPr>
        <p:spPr>
          <a:xfrm>
            <a:off x="7680960" y="2331720"/>
            <a:ext cx="76169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मराठी</a:t>
            </a:r>
          </a:p>
        </p:txBody>
      </p:sp>
      <p:sp>
        <p:nvSpPr>
          <p:cNvPr id="10" name="Rounded Rectangle 9"/>
          <p:cNvSpPr/>
          <p:nvPr/>
        </p:nvSpPr>
        <p:spPr>
          <a:xfrm>
            <a:off x="8552383" y="2331720"/>
            <a:ext cx="859170"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తెలుగు</a:t>
            </a:r>
          </a:p>
        </p:txBody>
      </p:sp>
      <p:sp>
        <p:nvSpPr>
          <p:cNvPr id="11" name="Rounded Rectangle 10"/>
          <p:cNvSpPr/>
          <p:nvPr/>
        </p:nvSpPr>
        <p:spPr>
          <a:xfrm>
            <a:off x="9521281" y="2331720"/>
            <a:ext cx="76169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தமிழ்</a:t>
            </a:r>
          </a:p>
        </p:txBody>
      </p:sp>
      <p:sp>
        <p:nvSpPr>
          <p:cNvPr id="12" name="Rounded Rectangle 11"/>
          <p:cNvSpPr/>
          <p:nvPr/>
        </p:nvSpPr>
        <p:spPr>
          <a:xfrm>
            <a:off x="7680960" y="2788920"/>
            <a:ext cx="95664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ગુજરાતી</a:t>
            </a:r>
          </a:p>
        </p:txBody>
      </p:sp>
      <p:sp>
        <p:nvSpPr>
          <p:cNvPr id="13" name="Rounded Rectangle 12"/>
          <p:cNvSpPr/>
          <p:nvPr/>
        </p:nvSpPr>
        <p:spPr>
          <a:xfrm>
            <a:off x="8747333" y="2788920"/>
            <a:ext cx="664220"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اردو</a:t>
            </a:r>
          </a:p>
        </p:txBody>
      </p:sp>
      <p:sp>
        <p:nvSpPr>
          <p:cNvPr id="14" name="Rounded Rectangle 13"/>
          <p:cNvSpPr/>
          <p:nvPr/>
        </p:nvSpPr>
        <p:spPr>
          <a:xfrm>
            <a:off x="9521281" y="2788920"/>
            <a:ext cx="76169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ಕನ್ನಡ</a:t>
            </a:r>
          </a:p>
        </p:txBody>
      </p:sp>
      <p:sp>
        <p:nvSpPr>
          <p:cNvPr id="15" name="Rounded Rectangle 14"/>
          <p:cNvSpPr/>
          <p:nvPr/>
        </p:nvSpPr>
        <p:spPr>
          <a:xfrm>
            <a:off x="7680960" y="3246120"/>
            <a:ext cx="76169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ଓଡ଼ିଆ</a:t>
            </a:r>
          </a:p>
        </p:txBody>
      </p:sp>
      <p:sp>
        <p:nvSpPr>
          <p:cNvPr id="16" name="Rounded Rectangle 15"/>
          <p:cNvSpPr/>
          <p:nvPr/>
        </p:nvSpPr>
        <p:spPr>
          <a:xfrm>
            <a:off x="8552383" y="3246120"/>
            <a:ext cx="859170"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മലയാളം</a:t>
            </a:r>
          </a:p>
        </p:txBody>
      </p:sp>
      <p:sp>
        <p:nvSpPr>
          <p:cNvPr id="17" name="Rounded Rectangle 16"/>
          <p:cNvSpPr/>
          <p:nvPr/>
        </p:nvSpPr>
        <p:spPr>
          <a:xfrm>
            <a:off x="9521281" y="3246120"/>
            <a:ext cx="859170"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ਪੰਜਾਬੀ</a:t>
            </a:r>
          </a:p>
        </p:txBody>
      </p:sp>
      <p:sp>
        <p:nvSpPr>
          <p:cNvPr id="18" name="Rounded Rectangle 17"/>
          <p:cNvSpPr/>
          <p:nvPr/>
        </p:nvSpPr>
        <p:spPr>
          <a:xfrm>
            <a:off x="7680960" y="3703320"/>
            <a:ext cx="95664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300" b="1">
                <a:solidFill>
                  <a:srgbClr val="D7F6EC"/>
                </a:solidFill>
                <a:latin typeface="Segoe UI"/>
              </a:rPr>
              <a:t>অসমীয়া</a:t>
            </a:r>
          </a:p>
        </p:txBody>
      </p:sp>
      <p:sp>
        <p:nvSpPr>
          <p:cNvPr id="19" name="TextBox 18"/>
          <p:cNvSpPr txBox="1"/>
          <p:nvPr/>
        </p:nvSpPr>
        <p:spPr>
          <a:xfrm>
            <a:off x="7680960" y="4023360"/>
            <a:ext cx="3931920" cy="1645920"/>
          </a:xfrm>
          <a:prstGeom prst="rect">
            <a:avLst/>
          </a:prstGeom>
          <a:noFill/>
        </p:spPr>
        <p:txBody>
          <a:bodyPr wrap="square" anchor="t" lIns="0" rIns="0" tIns="0" bIns="0">
            <a:spAutoFit/>
          </a:bodyPr>
          <a:lstStyle/>
          <a:p>
            <a:pPr algn="l">
              <a:lnSpc>
                <a:spcPct val="115000"/>
              </a:lnSpc>
            </a:pPr>
            <a:r>
              <a:rPr sz="1400" b="0">
                <a:solidFill>
                  <a:srgbClr val="9FD9C8"/>
                </a:solidFill>
                <a:latin typeface="Segoe UI"/>
              </a:rPr>
              <a:t>Screens, summaries, chat, voice and push reminders. Urdu is right to left. Each family member keeps their own language. The demo video has narration in 10 of them and subtitles in all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ON THE PHONE</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Works like an app</a:t>
            </a:r>
          </a:p>
        </p:txBody>
      </p:sp>
      <p:sp>
        <p:nvSpPr>
          <p:cNvPr id="5" name="TextBox 4"/>
          <p:cNvSpPr txBox="1"/>
          <p:nvPr/>
        </p:nvSpPr>
        <p:spPr>
          <a:xfrm>
            <a:off x="640080" y="1828800"/>
            <a:ext cx="6766560" cy="4114800"/>
          </a:xfrm>
          <a:prstGeom prst="rect">
            <a:avLst/>
          </a:prstGeom>
          <a:noFill/>
        </p:spPr>
        <p:txBody>
          <a:bodyPr wrap="square" anchor="t" lIns="0" rIns="0" tIns="0" bIns="0">
            <a:spAutoFit/>
          </a:bodyPr>
          <a:lstStyle/>
          <a:p>
            <a:pPr algn="l">
              <a:lnSpc>
                <a:spcPct val="120000"/>
              </a:lnSpc>
              <a:spcAft>
                <a:spcPts val="1080"/>
              </a:spcAft>
            </a:pPr>
            <a:r>
              <a:rPr sz="1500" b="1">
                <a:solidFill>
                  <a:srgbClr val="45C2A5"/>
                </a:solidFill>
                <a:latin typeface="Segoe UI"/>
              </a:rPr>
              <a:t>•  </a:t>
            </a:r>
            <a:r>
              <a:rPr sz="1500" b="1">
                <a:solidFill>
                  <a:srgbClr val="FFFFFF"/>
                </a:solidFill>
                <a:latin typeface="Segoe UI"/>
              </a:rPr>
              <a:t>Bottom tab bar: </a:t>
            </a:r>
            <a:r>
              <a:rPr sz="1500" b="0">
                <a:solidFill>
                  <a:srgbClr val="9FD9C8"/>
                </a:solidFill>
                <a:latin typeface="Segoe UI"/>
              </a:rPr>
              <a:t>home, reminders, chat, records, one thumb</a:t>
            </a:r>
          </a:p>
          <a:p>
            <a:pPr algn="l">
              <a:lnSpc>
                <a:spcPct val="120000"/>
              </a:lnSpc>
              <a:spcAft>
                <a:spcPts val="1080"/>
              </a:spcAft>
            </a:pPr>
            <a:r>
              <a:rPr sz="1500" b="1">
                <a:solidFill>
                  <a:srgbClr val="45C2A5"/>
                </a:solidFill>
                <a:latin typeface="Segoe UI"/>
              </a:rPr>
              <a:t>•  </a:t>
            </a:r>
            <a:r>
              <a:rPr sz="1500" b="1">
                <a:solidFill>
                  <a:srgbClr val="FFFFFF"/>
                </a:solidFill>
                <a:latin typeface="Segoe UI"/>
              </a:rPr>
              <a:t>Today's doses: </a:t>
            </a:r>
            <a:r>
              <a:rPr sz="1500" b="0">
                <a:solidFill>
                  <a:srgbClr val="9FD9C8"/>
                </a:solidFill>
                <a:latin typeface="Segoe UI"/>
              </a:rPr>
              <a:t>Taken and Snooze one tap away</a:t>
            </a:r>
          </a:p>
          <a:p>
            <a:pPr algn="l">
              <a:lnSpc>
                <a:spcPct val="120000"/>
              </a:lnSpc>
              <a:spcAft>
                <a:spcPts val="1080"/>
              </a:spcAft>
            </a:pPr>
            <a:r>
              <a:rPr sz="1500" b="1">
                <a:solidFill>
                  <a:srgbClr val="45C2A5"/>
                </a:solidFill>
                <a:latin typeface="Segoe UI"/>
              </a:rPr>
              <a:t>•  </a:t>
            </a:r>
            <a:r>
              <a:rPr sz="1500" b="0">
                <a:solidFill>
                  <a:srgbClr val="D7F6EC"/>
                </a:solidFill>
                <a:latin typeface="Segoe UI"/>
              </a:rPr>
              <a:t>Push reminders with Taken and Snooze buttons on the notification</a:t>
            </a:r>
          </a:p>
          <a:p>
            <a:pPr algn="l">
              <a:lnSpc>
                <a:spcPct val="120000"/>
              </a:lnSpc>
              <a:spcAft>
                <a:spcPts val="1080"/>
              </a:spcAft>
            </a:pPr>
            <a:r>
              <a:rPr sz="1500" b="1">
                <a:solidFill>
                  <a:srgbClr val="45C2A5"/>
                </a:solidFill>
                <a:latin typeface="Segoe UI"/>
              </a:rPr>
              <a:t>•  </a:t>
            </a:r>
            <a:r>
              <a:rPr sz="1500" b="0">
                <a:solidFill>
                  <a:srgbClr val="D7F6EC"/>
                </a:solidFill>
                <a:latin typeface="Segoe UI"/>
              </a:rPr>
              <a:t>Installs to the home screen, from 360 px wide</a:t>
            </a:r>
          </a:p>
          <a:p>
            <a:pPr algn="l">
              <a:lnSpc>
                <a:spcPct val="120000"/>
              </a:lnSpc>
              <a:spcAft>
                <a:spcPts val="1080"/>
              </a:spcAft>
            </a:pPr>
            <a:r>
              <a:rPr sz="1500" b="1">
                <a:solidFill>
                  <a:srgbClr val="45C2A5"/>
                </a:solidFill>
                <a:latin typeface="Segoe UI"/>
              </a:rPr>
              <a:t>•  </a:t>
            </a:r>
            <a:r>
              <a:rPr sz="1500" b="0">
                <a:solidFill>
                  <a:srgbClr val="D7F6EC"/>
                </a:solidFill>
                <a:latin typeface="Segoe UI"/>
              </a:rPr>
              <a:t>One account for the family; each person's records stay separate</a:t>
            </a:r>
          </a:p>
        </p:txBody>
      </p:sp>
      <p:pic>
        <p:nvPicPr>
          <p:cNvPr id="6" name="Picture 5" descr="phone.png"/>
          <p:cNvPicPr>
            <a:picLocks noChangeAspect="1"/>
          </p:cNvPicPr>
          <p:nvPr/>
        </p:nvPicPr>
        <p:blipFill>
          <a:blip r:embed="rId3"/>
          <a:stretch>
            <a:fillRect/>
          </a:stretch>
        </p:blipFill>
        <p:spPr>
          <a:xfrm>
            <a:off x="8549640" y="1463040"/>
            <a:ext cx="2366173" cy="5120640"/>
          </a:xfrm>
          <a:prstGeom prst="rect">
            <a:avLst/>
          </a:prstGeom>
          <a:ln>
            <a:solidFill>
              <a:srgbClr val="24564C"/>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HOW IT WORKS</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AI reads and explains. </a:t>
            </a:r>
            <a:r>
              <a:rPr sz="3400" b="1">
                <a:solidFill>
                  <a:srgbClr val="7BDBC1"/>
                </a:solidFill>
                <a:latin typeface="Segoe UI"/>
              </a:rPr>
              <a:t>Code decides.</a:t>
            </a:r>
          </a:p>
        </p:txBody>
      </p:sp>
      <p:sp>
        <p:nvSpPr>
          <p:cNvPr id="5" name="Rounded Rectangle 4"/>
          <p:cNvSpPr/>
          <p:nvPr/>
        </p:nvSpPr>
        <p:spPr>
          <a:xfrm>
            <a:off x="640080" y="2011680"/>
            <a:ext cx="1920240" cy="1325880"/>
          </a:xfrm>
          <a:prstGeom prst="roundRect">
            <a:avLst>
              <a:gd name="adj" fmla="val 18000"/>
            </a:avLst>
          </a:prstGeom>
          <a:solidFill>
            <a:srgbClr val="102B26"/>
          </a:solidFill>
          <a:ln w="25400">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19" y="2240280"/>
            <a:ext cx="1737360" cy="365760"/>
          </a:xfrm>
          <a:prstGeom prst="rect">
            <a:avLst/>
          </a:prstGeom>
          <a:noFill/>
        </p:spPr>
        <p:txBody>
          <a:bodyPr wrap="square" anchor="t" lIns="0" rIns="0" tIns="0" bIns="0">
            <a:spAutoFit/>
          </a:bodyPr>
          <a:lstStyle/>
          <a:p>
            <a:pPr algn="ctr">
              <a:lnSpc>
                <a:spcPct val="115000"/>
              </a:lnSpc>
            </a:pPr>
            <a:r>
              <a:rPr sz="1700" b="1">
                <a:solidFill>
                  <a:srgbClr val="FFFFFF"/>
                </a:solidFill>
                <a:latin typeface="Segoe UI"/>
              </a:rPr>
              <a:t>Record</a:t>
            </a:r>
          </a:p>
        </p:txBody>
      </p:sp>
      <p:sp>
        <p:nvSpPr>
          <p:cNvPr id="7" name="TextBox 6"/>
          <p:cNvSpPr txBox="1"/>
          <p:nvPr/>
        </p:nvSpPr>
        <p:spPr>
          <a:xfrm>
            <a:off x="731519" y="2670048"/>
            <a:ext cx="1737360" cy="64008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read twice, checked by code, you confirm</a:t>
            </a:r>
          </a:p>
        </p:txBody>
      </p:sp>
      <p:sp>
        <p:nvSpPr>
          <p:cNvPr id="8" name="Right Arrow 7"/>
          <p:cNvSpPr/>
          <p:nvPr/>
        </p:nvSpPr>
        <p:spPr>
          <a:xfrm>
            <a:off x="2606039" y="2560320"/>
            <a:ext cx="228599" cy="228600"/>
          </a:xfrm>
          <a:prstGeom prst="rightArrow">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80360" y="2011680"/>
            <a:ext cx="1920240" cy="1325880"/>
          </a:xfrm>
          <a:prstGeom prst="roundRect">
            <a:avLst>
              <a:gd name="adj" fmla="val 18000"/>
            </a:avLst>
          </a:prstGeom>
          <a:solidFill>
            <a:srgbClr val="102B26"/>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2240280"/>
            <a:ext cx="1737360" cy="365760"/>
          </a:xfrm>
          <a:prstGeom prst="rect">
            <a:avLst/>
          </a:prstGeom>
          <a:noFill/>
        </p:spPr>
        <p:txBody>
          <a:bodyPr wrap="square" anchor="t" lIns="0" rIns="0" tIns="0" bIns="0">
            <a:spAutoFit/>
          </a:bodyPr>
          <a:lstStyle/>
          <a:p>
            <a:pPr algn="ctr">
              <a:lnSpc>
                <a:spcPct val="115000"/>
              </a:lnSpc>
            </a:pPr>
            <a:r>
              <a:rPr sz="1700" b="1">
                <a:solidFill>
                  <a:srgbClr val="FFFFFF"/>
                </a:solidFill>
                <a:latin typeface="Segoe UI"/>
              </a:rPr>
              <a:t>Insights</a:t>
            </a:r>
          </a:p>
        </p:txBody>
      </p:sp>
      <p:sp>
        <p:nvSpPr>
          <p:cNvPr id="11" name="TextBox 10"/>
          <p:cNvSpPr txBox="1"/>
          <p:nvPr/>
        </p:nvSpPr>
        <p:spPr>
          <a:xfrm>
            <a:off x="2971800" y="2670048"/>
            <a:ext cx="1737360" cy="64008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trends, combinations, overdue tests</a:t>
            </a:r>
          </a:p>
        </p:txBody>
      </p:sp>
      <p:sp>
        <p:nvSpPr>
          <p:cNvPr id="12" name="Right Arrow 11"/>
          <p:cNvSpPr/>
          <p:nvPr/>
        </p:nvSpPr>
        <p:spPr>
          <a:xfrm>
            <a:off x="4846320" y="2560320"/>
            <a:ext cx="228599" cy="228600"/>
          </a:xfrm>
          <a:prstGeom prst="rightArrow">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20640" y="2011680"/>
            <a:ext cx="1920240" cy="1325880"/>
          </a:xfrm>
          <a:prstGeom prst="roundRect">
            <a:avLst>
              <a:gd name="adj" fmla="val 18000"/>
            </a:avLst>
          </a:prstGeom>
          <a:solidFill>
            <a:srgbClr val="102B26"/>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2240280"/>
            <a:ext cx="1737360" cy="365760"/>
          </a:xfrm>
          <a:prstGeom prst="rect">
            <a:avLst/>
          </a:prstGeom>
          <a:noFill/>
        </p:spPr>
        <p:txBody>
          <a:bodyPr wrap="square" anchor="t" lIns="0" rIns="0" tIns="0" bIns="0">
            <a:spAutoFit/>
          </a:bodyPr>
          <a:lstStyle/>
          <a:p>
            <a:pPr algn="ctr">
              <a:lnSpc>
                <a:spcPct val="115000"/>
              </a:lnSpc>
            </a:pPr>
            <a:r>
              <a:rPr sz="1700" b="1">
                <a:solidFill>
                  <a:srgbClr val="FFFFFF"/>
                </a:solidFill>
                <a:latin typeface="Segoe UI"/>
              </a:rPr>
              <a:t>Copilot</a:t>
            </a:r>
          </a:p>
        </p:txBody>
      </p:sp>
      <p:sp>
        <p:nvSpPr>
          <p:cNvPr id="15" name="TextBox 14"/>
          <p:cNvSpPr txBox="1"/>
          <p:nvPr/>
        </p:nvSpPr>
        <p:spPr>
          <a:xfrm>
            <a:off x="5212080" y="2670048"/>
            <a:ext cx="1737360" cy="64008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daily check, schedules, follows up</a:t>
            </a:r>
          </a:p>
        </p:txBody>
      </p:sp>
      <p:sp>
        <p:nvSpPr>
          <p:cNvPr id="16" name="Right Arrow 15"/>
          <p:cNvSpPr/>
          <p:nvPr/>
        </p:nvSpPr>
        <p:spPr>
          <a:xfrm>
            <a:off x="7086600" y="2560320"/>
            <a:ext cx="228599" cy="228600"/>
          </a:xfrm>
          <a:prstGeom prst="rightArrow">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60920" y="2011680"/>
            <a:ext cx="1920240" cy="1325880"/>
          </a:xfrm>
          <a:prstGeom prst="roundRect">
            <a:avLst>
              <a:gd name="adj" fmla="val 18000"/>
            </a:avLst>
          </a:prstGeom>
          <a:solidFill>
            <a:srgbClr val="102B26"/>
          </a:solidFill>
          <a:ln w="25400">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240280"/>
            <a:ext cx="1737360" cy="365760"/>
          </a:xfrm>
          <a:prstGeom prst="rect">
            <a:avLst/>
          </a:prstGeom>
          <a:noFill/>
        </p:spPr>
        <p:txBody>
          <a:bodyPr wrap="square" anchor="t" lIns="0" rIns="0" tIns="0" bIns="0">
            <a:spAutoFit/>
          </a:bodyPr>
          <a:lstStyle/>
          <a:p>
            <a:pPr algn="ctr">
              <a:lnSpc>
                <a:spcPct val="115000"/>
              </a:lnSpc>
            </a:pPr>
            <a:r>
              <a:rPr sz="1700" b="1">
                <a:solidFill>
                  <a:srgbClr val="FFFFFF"/>
                </a:solidFill>
                <a:latin typeface="Segoe UI"/>
              </a:rPr>
              <a:t>You decide</a:t>
            </a:r>
          </a:p>
        </p:txBody>
      </p:sp>
      <p:sp>
        <p:nvSpPr>
          <p:cNvPr id="19" name="TextBox 18"/>
          <p:cNvSpPr txBox="1"/>
          <p:nvPr/>
        </p:nvSpPr>
        <p:spPr>
          <a:xfrm>
            <a:off x="7452360" y="2670048"/>
            <a:ext cx="1737360" cy="64008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keep, edit or undo</a:t>
            </a:r>
          </a:p>
        </p:txBody>
      </p:sp>
      <p:sp>
        <p:nvSpPr>
          <p:cNvPr id="20" name="Right Arrow 19"/>
          <p:cNvSpPr/>
          <p:nvPr/>
        </p:nvSpPr>
        <p:spPr>
          <a:xfrm>
            <a:off x="9326880" y="2560320"/>
            <a:ext cx="228599" cy="228600"/>
          </a:xfrm>
          <a:prstGeom prst="rightArrow">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601200" y="2011680"/>
            <a:ext cx="1920240" cy="1325880"/>
          </a:xfrm>
          <a:prstGeom prst="roundRect">
            <a:avLst>
              <a:gd name="adj" fmla="val 18000"/>
            </a:avLst>
          </a:prstGeom>
          <a:solidFill>
            <a:srgbClr val="102B26"/>
          </a:solidFill>
          <a:ln w="254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0" y="2240280"/>
            <a:ext cx="1737360" cy="365760"/>
          </a:xfrm>
          <a:prstGeom prst="rect">
            <a:avLst/>
          </a:prstGeom>
          <a:noFill/>
        </p:spPr>
        <p:txBody>
          <a:bodyPr wrap="square" anchor="t" lIns="0" rIns="0" tIns="0" bIns="0">
            <a:spAutoFit/>
          </a:bodyPr>
          <a:lstStyle/>
          <a:p>
            <a:pPr algn="ctr">
              <a:lnSpc>
                <a:spcPct val="115000"/>
              </a:lnSpc>
            </a:pPr>
            <a:r>
              <a:rPr sz="1700" b="1">
                <a:solidFill>
                  <a:srgbClr val="FFFFFF"/>
                </a:solidFill>
                <a:latin typeface="Segoe UI"/>
              </a:rPr>
              <a:t>Reaches you</a:t>
            </a:r>
          </a:p>
        </p:txBody>
      </p:sp>
      <p:sp>
        <p:nvSpPr>
          <p:cNvPr id="23" name="TextBox 22"/>
          <p:cNvSpPr txBox="1"/>
          <p:nvPr/>
        </p:nvSpPr>
        <p:spPr>
          <a:xfrm>
            <a:off x="9692640" y="2670048"/>
            <a:ext cx="1737360" cy="64008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push, chat, voice, 13 languages</a:t>
            </a:r>
          </a:p>
        </p:txBody>
      </p:sp>
      <p:sp>
        <p:nvSpPr>
          <p:cNvPr id="24" name="Rounded Rectangle 23"/>
          <p:cNvSpPr/>
          <p:nvPr/>
        </p:nvSpPr>
        <p:spPr>
          <a:xfrm>
            <a:off x="640080" y="3657600"/>
            <a:ext cx="3520440" cy="2651760"/>
          </a:xfrm>
          <a:prstGeom prst="roundRect">
            <a:avLst>
              <a:gd name="adj" fmla="val 8000"/>
            </a:avLst>
          </a:prstGeom>
          <a:solidFill>
            <a:srgbClr val="102B26"/>
          </a:solidFill>
          <a:ln w="25400">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840480"/>
            <a:ext cx="3017520" cy="457200"/>
          </a:xfrm>
          <a:prstGeom prst="rect">
            <a:avLst/>
          </a:prstGeom>
          <a:noFill/>
        </p:spPr>
        <p:txBody>
          <a:bodyPr wrap="square" anchor="t" lIns="0" rIns="0" tIns="0" bIns="0">
            <a:spAutoFit/>
          </a:bodyPr>
          <a:lstStyle/>
          <a:p>
            <a:pPr algn="l">
              <a:lnSpc>
                <a:spcPct val="115000"/>
              </a:lnSpc>
            </a:pPr>
            <a:r>
              <a:rPr sz="1800" b="1">
                <a:solidFill>
                  <a:srgbClr val="FFFFFF"/>
                </a:solidFill>
                <a:latin typeface="Segoe UI"/>
              </a:rPr>
              <a:t>Backend</a:t>
            </a:r>
          </a:p>
        </p:txBody>
      </p:sp>
      <p:sp>
        <p:nvSpPr>
          <p:cNvPr id="26" name="TextBox 25"/>
          <p:cNvSpPr txBox="1"/>
          <p:nvPr/>
        </p:nvSpPr>
        <p:spPr>
          <a:xfrm>
            <a:off x="914400" y="4343400"/>
            <a:ext cx="3063240" cy="4114800"/>
          </a:xfrm>
          <a:prstGeom prst="rect">
            <a:avLst/>
          </a:prstGeom>
          <a:noFill/>
        </p:spPr>
        <p:txBody>
          <a:bodyPr wrap="square" anchor="t" lIns="0" rIns="0" tIns="0" bIns="0">
            <a:spAutoFit/>
          </a:bodyPr>
          <a:lstStyle/>
          <a:p>
            <a:pPr algn="l">
              <a:lnSpc>
                <a:spcPct val="120000"/>
              </a:lnSpc>
              <a:spcAft>
                <a:spcPts val="936"/>
              </a:spcAft>
            </a:pPr>
            <a:r>
              <a:rPr sz="1300" b="1">
                <a:solidFill>
                  <a:srgbClr val="45C2A5"/>
                </a:solidFill>
                <a:latin typeface="Segoe UI"/>
              </a:rPr>
              <a:t>•  </a:t>
            </a:r>
            <a:r>
              <a:rPr sz="1300" b="0">
                <a:solidFill>
                  <a:srgbClr val="D7F6EC"/>
                </a:solidFill>
                <a:latin typeface="Segoe UI"/>
              </a:rPr>
              <a:t>FastAPI, SQLModel, SQLite</a:t>
            </a:r>
          </a:p>
          <a:p>
            <a:pPr algn="l">
              <a:lnSpc>
                <a:spcPct val="120000"/>
              </a:lnSpc>
              <a:spcAft>
                <a:spcPts val="936"/>
              </a:spcAft>
            </a:pPr>
            <a:r>
              <a:rPr sz="1300" b="1">
                <a:solidFill>
                  <a:srgbClr val="45C2A5"/>
                </a:solidFill>
                <a:latin typeface="Segoe UI"/>
              </a:rPr>
              <a:t>•  </a:t>
            </a:r>
            <a:r>
              <a:rPr sz="1300" b="1">
                <a:solidFill>
                  <a:srgbClr val="FFFFFF"/>
                </a:solidFill>
                <a:latin typeface="Segoe UI"/>
              </a:rPr>
              <a:t>Scheduler: </a:t>
            </a:r>
            <a:r>
              <a:rPr sz="1300" b="0">
                <a:solidFill>
                  <a:srgbClr val="9FD9C8"/>
                </a:solidFill>
                <a:latin typeface="Segoe UI"/>
              </a:rPr>
              <a:t>doses, daily copilot check</a:t>
            </a:r>
          </a:p>
          <a:p>
            <a:pPr algn="l">
              <a:lnSpc>
                <a:spcPct val="120000"/>
              </a:lnSpc>
              <a:spcAft>
                <a:spcPts val="936"/>
              </a:spcAft>
            </a:pPr>
            <a:r>
              <a:rPr sz="1300" b="1">
                <a:solidFill>
                  <a:srgbClr val="45C2A5"/>
                </a:solidFill>
                <a:latin typeface="Segoe UI"/>
              </a:rPr>
              <a:t>•  </a:t>
            </a:r>
            <a:r>
              <a:rPr sz="1300" b="0">
                <a:solidFill>
                  <a:srgbClr val="D7F6EC"/>
                </a:solidFill>
                <a:latin typeface="Segoe UI"/>
              </a:rPr>
              <a:t>Gemini chains that race and fall back</a:t>
            </a:r>
          </a:p>
          <a:p>
            <a:pPr algn="l">
              <a:lnSpc>
                <a:spcPct val="120000"/>
              </a:lnSpc>
              <a:spcAft>
                <a:spcPts val="936"/>
              </a:spcAft>
            </a:pPr>
            <a:r>
              <a:rPr sz="1300" b="1">
                <a:solidFill>
                  <a:srgbClr val="45C2A5"/>
                </a:solidFill>
                <a:latin typeface="Segoe UI"/>
              </a:rPr>
              <a:t>•  </a:t>
            </a:r>
            <a:r>
              <a:rPr sz="1300" b="0">
                <a:solidFill>
                  <a:srgbClr val="D7F6EC"/>
                </a:solidFill>
                <a:latin typeface="Segoe UI"/>
              </a:rPr>
              <a:t>FHIR R4, ABHA link</a:t>
            </a:r>
          </a:p>
        </p:txBody>
      </p:sp>
      <p:sp>
        <p:nvSpPr>
          <p:cNvPr id="27" name="Rounded Rectangle 26"/>
          <p:cNvSpPr/>
          <p:nvPr/>
        </p:nvSpPr>
        <p:spPr>
          <a:xfrm>
            <a:off x="4343400" y="3657600"/>
            <a:ext cx="3520440" cy="2651760"/>
          </a:xfrm>
          <a:prstGeom prst="roundRect">
            <a:avLst>
              <a:gd name="adj" fmla="val 8000"/>
            </a:avLst>
          </a:prstGeom>
          <a:solidFill>
            <a:srgbClr val="102B26"/>
          </a:solidFill>
          <a:ln w="254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3840480"/>
            <a:ext cx="3017520" cy="457200"/>
          </a:xfrm>
          <a:prstGeom prst="rect">
            <a:avLst/>
          </a:prstGeom>
          <a:noFill/>
        </p:spPr>
        <p:txBody>
          <a:bodyPr wrap="square" anchor="t" lIns="0" rIns="0" tIns="0" bIns="0">
            <a:spAutoFit/>
          </a:bodyPr>
          <a:lstStyle/>
          <a:p>
            <a:pPr algn="l">
              <a:lnSpc>
                <a:spcPct val="115000"/>
              </a:lnSpc>
            </a:pPr>
            <a:r>
              <a:rPr sz="1800" b="1">
                <a:solidFill>
                  <a:srgbClr val="FFFFFF"/>
                </a:solidFill>
                <a:latin typeface="Segoe UI"/>
              </a:rPr>
              <a:t>Frontend</a:t>
            </a:r>
          </a:p>
        </p:txBody>
      </p:sp>
      <p:sp>
        <p:nvSpPr>
          <p:cNvPr id="29" name="TextBox 28"/>
          <p:cNvSpPr txBox="1"/>
          <p:nvPr/>
        </p:nvSpPr>
        <p:spPr>
          <a:xfrm>
            <a:off x="4617720" y="4343400"/>
            <a:ext cx="3063240" cy="4114800"/>
          </a:xfrm>
          <a:prstGeom prst="rect">
            <a:avLst/>
          </a:prstGeom>
          <a:noFill/>
        </p:spPr>
        <p:txBody>
          <a:bodyPr wrap="square" anchor="t" lIns="0" rIns="0" tIns="0" bIns="0">
            <a:spAutoFit/>
          </a:bodyPr>
          <a:lstStyle/>
          <a:p>
            <a:pPr algn="l">
              <a:lnSpc>
                <a:spcPct val="120000"/>
              </a:lnSpc>
              <a:spcAft>
                <a:spcPts val="936"/>
              </a:spcAft>
            </a:pPr>
            <a:r>
              <a:rPr sz="1300" b="1">
                <a:solidFill>
                  <a:srgbClr val="45C2A5"/>
                </a:solidFill>
                <a:latin typeface="Segoe UI"/>
              </a:rPr>
              <a:t>•  </a:t>
            </a:r>
            <a:r>
              <a:rPr sz="1300" b="0">
                <a:solidFill>
                  <a:srgbClr val="D7F6EC"/>
                </a:solidFill>
                <a:latin typeface="Segoe UI"/>
              </a:rPr>
              <a:t>React 19, Vite, TypeScript</a:t>
            </a:r>
          </a:p>
          <a:p>
            <a:pPr algn="l">
              <a:lnSpc>
                <a:spcPct val="120000"/>
              </a:lnSpc>
              <a:spcAft>
                <a:spcPts val="936"/>
              </a:spcAft>
            </a:pPr>
            <a:r>
              <a:rPr sz="1300" b="1">
                <a:solidFill>
                  <a:srgbClr val="45C2A5"/>
                </a:solidFill>
                <a:latin typeface="Segoe UI"/>
              </a:rPr>
              <a:t>•  </a:t>
            </a:r>
            <a:r>
              <a:rPr sz="1300" b="0">
                <a:solidFill>
                  <a:srgbClr val="D7F6EC"/>
                </a:solidFill>
                <a:latin typeface="Segoe UI"/>
              </a:rPr>
              <a:t>Tailwind 4, TanStack Query</a:t>
            </a:r>
          </a:p>
          <a:p>
            <a:pPr algn="l">
              <a:lnSpc>
                <a:spcPct val="120000"/>
              </a:lnSpc>
              <a:spcAft>
                <a:spcPts val="936"/>
              </a:spcAft>
            </a:pPr>
            <a:r>
              <a:rPr sz="1300" b="1">
                <a:solidFill>
                  <a:srgbClr val="45C2A5"/>
                </a:solidFill>
                <a:latin typeface="Segoe UI"/>
              </a:rPr>
              <a:t>•  </a:t>
            </a:r>
            <a:r>
              <a:rPr sz="1300" b="1">
                <a:solidFill>
                  <a:srgbClr val="FFFFFF"/>
                </a:solidFill>
                <a:latin typeface="Segoe UI"/>
              </a:rPr>
              <a:t>i18next: </a:t>
            </a:r>
            <a:r>
              <a:rPr sz="1300" b="0">
                <a:solidFill>
                  <a:srgbClr val="9FD9C8"/>
                </a:solidFill>
                <a:latin typeface="Segoe UI"/>
              </a:rPr>
              <a:t>13 languages</a:t>
            </a:r>
          </a:p>
          <a:p>
            <a:pPr algn="l">
              <a:lnSpc>
                <a:spcPct val="120000"/>
              </a:lnSpc>
              <a:spcAft>
                <a:spcPts val="936"/>
              </a:spcAft>
            </a:pPr>
            <a:r>
              <a:rPr sz="1300" b="1">
                <a:solidFill>
                  <a:srgbClr val="45C2A5"/>
                </a:solidFill>
                <a:latin typeface="Segoe UI"/>
              </a:rPr>
              <a:t>•  </a:t>
            </a:r>
            <a:r>
              <a:rPr sz="1300" b="0">
                <a:solidFill>
                  <a:srgbClr val="D7F6EC"/>
                </a:solidFill>
                <a:latin typeface="Segoe UI"/>
              </a:rPr>
              <a:t>Web Push, installable</a:t>
            </a:r>
          </a:p>
        </p:txBody>
      </p:sp>
      <p:sp>
        <p:nvSpPr>
          <p:cNvPr id="30" name="Rounded Rectangle 29"/>
          <p:cNvSpPr/>
          <p:nvPr/>
        </p:nvSpPr>
        <p:spPr>
          <a:xfrm>
            <a:off x="8046719" y="3657600"/>
            <a:ext cx="3520440" cy="2651760"/>
          </a:xfrm>
          <a:prstGeom prst="roundRect">
            <a:avLst>
              <a:gd name="adj" fmla="val 8000"/>
            </a:avLst>
          </a:prstGeom>
          <a:solidFill>
            <a:srgbClr val="102B26"/>
          </a:solidFill>
          <a:ln w="254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3840480"/>
            <a:ext cx="3017520" cy="457200"/>
          </a:xfrm>
          <a:prstGeom prst="rect">
            <a:avLst/>
          </a:prstGeom>
          <a:noFill/>
        </p:spPr>
        <p:txBody>
          <a:bodyPr wrap="square" anchor="t" lIns="0" rIns="0" tIns="0" bIns="0">
            <a:spAutoFit/>
          </a:bodyPr>
          <a:lstStyle/>
          <a:p>
            <a:pPr algn="l">
              <a:lnSpc>
                <a:spcPct val="115000"/>
              </a:lnSpc>
            </a:pPr>
            <a:r>
              <a:rPr sz="1800" b="1">
                <a:solidFill>
                  <a:srgbClr val="FFFFFF"/>
                </a:solidFill>
                <a:latin typeface="Segoe UI"/>
              </a:rPr>
              <a:t>Hosting</a:t>
            </a:r>
          </a:p>
        </p:txBody>
      </p:sp>
      <p:sp>
        <p:nvSpPr>
          <p:cNvPr id="32" name="TextBox 31"/>
          <p:cNvSpPr txBox="1"/>
          <p:nvPr/>
        </p:nvSpPr>
        <p:spPr>
          <a:xfrm>
            <a:off x="8321040" y="4343400"/>
            <a:ext cx="3063240" cy="4114800"/>
          </a:xfrm>
          <a:prstGeom prst="rect">
            <a:avLst/>
          </a:prstGeom>
          <a:noFill/>
        </p:spPr>
        <p:txBody>
          <a:bodyPr wrap="square" anchor="t" lIns="0" rIns="0" tIns="0" bIns="0">
            <a:spAutoFit/>
          </a:bodyPr>
          <a:lstStyle/>
          <a:p>
            <a:pPr algn="l">
              <a:lnSpc>
                <a:spcPct val="120000"/>
              </a:lnSpc>
              <a:spcAft>
                <a:spcPts val="936"/>
              </a:spcAft>
            </a:pPr>
            <a:r>
              <a:rPr sz="1300" b="1">
                <a:solidFill>
                  <a:srgbClr val="45C2A5"/>
                </a:solidFill>
                <a:latin typeface="Segoe UI"/>
              </a:rPr>
              <a:t>•  </a:t>
            </a:r>
            <a:r>
              <a:rPr sz="1300" b="0">
                <a:solidFill>
                  <a:srgbClr val="D7F6EC"/>
                </a:solidFill>
                <a:latin typeface="Segoe UI"/>
              </a:rPr>
              <a:t>AWS EC2 free tier, always on</a:t>
            </a:r>
          </a:p>
          <a:p>
            <a:pPr algn="l">
              <a:lnSpc>
                <a:spcPct val="120000"/>
              </a:lnSpc>
              <a:spcAft>
                <a:spcPts val="936"/>
              </a:spcAft>
            </a:pPr>
            <a:r>
              <a:rPr sz="1300" b="1">
                <a:solidFill>
                  <a:srgbClr val="45C2A5"/>
                </a:solidFill>
                <a:latin typeface="Segoe UI"/>
              </a:rPr>
              <a:t>•  </a:t>
            </a:r>
            <a:r>
              <a:rPr sz="1300" b="0">
                <a:solidFill>
                  <a:srgbClr val="D7F6EC"/>
                </a:solidFill>
                <a:latin typeface="Segoe UI"/>
              </a:rPr>
              <a:t>Docker and Caddy (HTTPS)</a:t>
            </a:r>
          </a:p>
          <a:p>
            <a:pPr algn="l">
              <a:lnSpc>
                <a:spcPct val="120000"/>
              </a:lnSpc>
              <a:spcAft>
                <a:spcPts val="936"/>
              </a:spcAft>
            </a:pPr>
            <a:r>
              <a:rPr sz="1300" b="1">
                <a:solidFill>
                  <a:srgbClr val="45C2A5"/>
                </a:solidFill>
                <a:latin typeface="Segoe UI"/>
              </a:rPr>
              <a:t>•  </a:t>
            </a:r>
            <a:r>
              <a:rPr sz="1300" b="0">
                <a:solidFill>
                  <a:srgbClr val="D7F6EC"/>
                </a:solidFill>
                <a:latin typeface="Segoe UI"/>
              </a:rPr>
              <a:t>106 backend tests</a:t>
            </a:r>
          </a:p>
          <a:p>
            <a:pPr algn="l">
              <a:lnSpc>
                <a:spcPct val="120000"/>
              </a:lnSpc>
              <a:spcAft>
                <a:spcPts val="936"/>
              </a:spcAft>
            </a:pPr>
            <a:r>
              <a:rPr sz="1300" b="1">
                <a:solidFill>
                  <a:srgbClr val="45C2A5"/>
                </a:solidFill>
                <a:latin typeface="Segoe UI"/>
              </a:rPr>
              <a:t>•  </a:t>
            </a:r>
            <a:r>
              <a:rPr sz="1300" b="0">
                <a:solidFill>
                  <a:srgbClr val="D7F6EC"/>
                </a:solidFill>
                <a:latin typeface="Segoe UI"/>
              </a:rPr>
              <a:t>Works without the AI for reminders and insights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SAFE BY CONSTRUCTION</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Guardrails in code, not in the prompt</a:t>
            </a:r>
          </a:p>
        </p:txBody>
      </p:sp>
      <p:sp>
        <p:nvSpPr>
          <p:cNvPr id="5" name="Rounded Rectangle 4"/>
          <p:cNvSpPr/>
          <p:nvPr/>
        </p:nvSpPr>
        <p:spPr>
          <a:xfrm>
            <a:off x="640080" y="1828800"/>
            <a:ext cx="53492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41247" y="20299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1</a:t>
            </a:r>
          </a:p>
        </p:txBody>
      </p:sp>
      <p:sp>
        <p:nvSpPr>
          <p:cNvPr id="7" name="TextBox 6"/>
          <p:cNvSpPr txBox="1"/>
          <p:nvPr/>
        </p:nvSpPr>
        <p:spPr>
          <a:xfrm>
            <a:off x="1508760" y="2011680"/>
            <a:ext cx="429767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Code decides</a:t>
            </a:r>
          </a:p>
        </p:txBody>
      </p:sp>
      <p:sp>
        <p:nvSpPr>
          <p:cNvPr id="8" name="TextBox 7"/>
          <p:cNvSpPr txBox="1"/>
          <p:nvPr/>
        </p:nvSpPr>
        <p:spPr>
          <a:xfrm>
            <a:off x="1508760" y="2359152"/>
            <a:ext cx="4297679" cy="77724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Flags, trends, due tests and reminder times are computed deterministically from the record.</a:t>
            </a:r>
          </a:p>
        </p:txBody>
      </p:sp>
      <p:sp>
        <p:nvSpPr>
          <p:cNvPr id="9" name="Rounded Rectangle 8"/>
          <p:cNvSpPr/>
          <p:nvPr/>
        </p:nvSpPr>
        <p:spPr>
          <a:xfrm>
            <a:off x="6172200" y="1828800"/>
            <a:ext cx="53492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73368" y="20299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2</a:t>
            </a:r>
          </a:p>
        </p:txBody>
      </p:sp>
      <p:sp>
        <p:nvSpPr>
          <p:cNvPr id="11" name="TextBox 10"/>
          <p:cNvSpPr txBox="1"/>
          <p:nvPr/>
        </p:nvSpPr>
        <p:spPr>
          <a:xfrm>
            <a:off x="7040880" y="2011680"/>
            <a:ext cx="429767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Grounded and cited</a:t>
            </a:r>
          </a:p>
        </p:txBody>
      </p:sp>
      <p:sp>
        <p:nvSpPr>
          <p:cNvPr id="12" name="TextBox 11"/>
          <p:cNvSpPr txBox="1"/>
          <p:nvPr/>
        </p:nvSpPr>
        <p:spPr>
          <a:xfrm>
            <a:off x="7040880" y="2359152"/>
            <a:ext cx="4297679" cy="77724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Chat answers only from the person's records and says when something isn't there.</a:t>
            </a:r>
          </a:p>
        </p:txBody>
      </p:sp>
      <p:sp>
        <p:nvSpPr>
          <p:cNvPr id="13" name="Rounded Rectangle 12"/>
          <p:cNvSpPr/>
          <p:nvPr/>
        </p:nvSpPr>
        <p:spPr>
          <a:xfrm>
            <a:off x="640080" y="3429000"/>
            <a:ext cx="53492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7" y="36301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3</a:t>
            </a:r>
          </a:p>
        </p:txBody>
      </p:sp>
      <p:sp>
        <p:nvSpPr>
          <p:cNvPr id="15" name="TextBox 14"/>
          <p:cNvSpPr txBox="1"/>
          <p:nvPr/>
        </p:nvSpPr>
        <p:spPr>
          <a:xfrm>
            <a:off x="1508760" y="3611880"/>
            <a:ext cx="429767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No dosing advice, no diagnosis</a:t>
            </a:r>
          </a:p>
        </p:txBody>
      </p:sp>
      <p:sp>
        <p:nvSpPr>
          <p:cNvPr id="16" name="TextBox 15"/>
          <p:cNvSpPr txBox="1"/>
          <p:nvPr/>
        </p:nvSpPr>
        <p:spPr>
          <a:xfrm>
            <a:off x="1508760" y="3959352"/>
            <a:ext cx="4297679" cy="77724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Medicine and dose changes go to the doctor; emergencies point to 112.</a:t>
            </a:r>
          </a:p>
        </p:txBody>
      </p:sp>
      <p:sp>
        <p:nvSpPr>
          <p:cNvPr id="17" name="Rounded Rectangle 16"/>
          <p:cNvSpPr/>
          <p:nvPr/>
        </p:nvSpPr>
        <p:spPr>
          <a:xfrm>
            <a:off x="6172200" y="3429000"/>
            <a:ext cx="53492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73368" y="36301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4</a:t>
            </a:r>
          </a:p>
        </p:txBody>
      </p:sp>
      <p:sp>
        <p:nvSpPr>
          <p:cNvPr id="19" name="TextBox 18"/>
          <p:cNvSpPr txBox="1"/>
          <p:nvPr/>
        </p:nvSpPr>
        <p:spPr>
          <a:xfrm>
            <a:off x="7040880" y="3611880"/>
            <a:ext cx="429767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You stay in control</a:t>
            </a:r>
          </a:p>
        </p:txBody>
      </p:sp>
      <p:sp>
        <p:nvSpPr>
          <p:cNvPr id="20" name="TextBox 19"/>
          <p:cNvSpPr txBox="1"/>
          <p:nvPr/>
        </p:nvSpPr>
        <p:spPr>
          <a:xfrm>
            <a:off x="7040880" y="3959352"/>
            <a:ext cx="4297679" cy="77724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Every copilot action is shown with Keep, Edit and Undo; nothing is saved without confirmation.</a:t>
            </a:r>
          </a:p>
        </p:txBody>
      </p:sp>
      <p:sp>
        <p:nvSpPr>
          <p:cNvPr id="21" name="TextBox 20"/>
          <p:cNvSpPr txBox="1"/>
          <p:nvPr/>
        </p:nvSpPr>
        <p:spPr>
          <a:xfrm>
            <a:off x="640080" y="5257800"/>
            <a:ext cx="10881360" cy="822960"/>
          </a:xfrm>
          <a:prstGeom prst="rect">
            <a:avLst/>
          </a:prstGeom>
          <a:noFill/>
        </p:spPr>
        <p:txBody>
          <a:bodyPr wrap="square" anchor="t" lIns="0" rIns="0" tIns="0" bIns="0">
            <a:spAutoFit/>
          </a:bodyPr>
          <a:lstStyle/>
          <a:p>
            <a:pPr algn="l">
              <a:lnSpc>
                <a:spcPct val="115000"/>
              </a:lnSpc>
            </a:pPr>
            <a:r>
              <a:rPr sz="1500" b="1">
                <a:solidFill>
                  <a:srgbClr val="FFFFFF"/>
                </a:solidFill>
                <a:latin typeface="Segoe UI"/>
              </a:rPr>
              <a:t>Privacy. </a:t>
            </a:r>
            <a:r>
              <a:rPr sz="1500" b="0">
                <a:solidFill>
                  <a:srgbClr val="9FD9C8"/>
                </a:solidFill>
                <a:latin typeface="Segoe UI"/>
              </a:rPr>
              <a:t>The models see clinical facts, gender and age only: no names, phone numbers or ABHA IDs. Each account's family records are isolated.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TextBox 1"/>
          <p:cNvSpPr txBox="1"/>
          <p:nvPr/>
        </p:nvSpPr>
        <p:spPr>
          <a:xfrm>
            <a:off x="822960" y="1280160"/>
            <a:ext cx="10515600" cy="2926080"/>
          </a:xfrm>
          <a:prstGeom prst="rect">
            <a:avLst/>
          </a:prstGeom>
          <a:noFill/>
        </p:spPr>
        <p:txBody>
          <a:bodyPr wrap="square" anchor="t" lIns="0" rIns="0" tIns="0" bIns="0">
            <a:spAutoFit/>
          </a:bodyPr>
          <a:lstStyle/>
          <a:p>
            <a:pPr algn="l">
              <a:lnSpc>
                <a:spcPct val="105000"/>
              </a:lnSpc>
            </a:pPr>
            <a:r>
              <a:rPr sz="5000" b="1">
                <a:solidFill>
                  <a:srgbClr val="FFFFFF"/>
                </a:solidFill>
                <a:latin typeface="Segoe UI"/>
              </a:rPr>
              <a:t>AI reads and explains.</a:t>
            </a:r>
          </a:p>
          <a:p>
            <a:pPr algn="l">
              <a:lnSpc>
                <a:spcPct val="105000"/>
              </a:lnSpc>
            </a:pPr>
            <a:r>
              <a:rPr sz="5000" b="1">
                <a:solidFill>
                  <a:srgbClr val="FFFFFF"/>
                </a:solidFill>
                <a:latin typeface="Segoe UI"/>
              </a:rPr>
              <a:t>Code decides.</a:t>
            </a:r>
          </a:p>
          <a:p>
            <a:pPr algn="l">
              <a:lnSpc>
                <a:spcPct val="105000"/>
              </a:lnSpc>
            </a:pPr>
            <a:r>
              <a:rPr sz="5000" b="1">
                <a:solidFill>
                  <a:srgbClr val="7BDBC1"/>
                </a:solidFill>
                <a:latin typeface="Segoe UI"/>
              </a:rPr>
              <a:t>You stay in control.</a:t>
            </a:r>
          </a:p>
        </p:txBody>
      </p:sp>
      <p:sp>
        <p:nvSpPr>
          <p:cNvPr id="3" name="TextBox 2"/>
          <p:cNvSpPr txBox="1"/>
          <p:nvPr/>
        </p:nvSpPr>
        <p:spPr>
          <a:xfrm>
            <a:off x="822960" y="4114800"/>
            <a:ext cx="10515600" cy="548640"/>
          </a:xfrm>
          <a:prstGeom prst="rect">
            <a:avLst/>
          </a:prstGeom>
          <a:noFill/>
        </p:spPr>
        <p:txBody>
          <a:bodyPr wrap="square" anchor="t" lIns="0" rIns="0" tIns="0" bIns="0">
            <a:spAutoFit/>
          </a:bodyPr>
          <a:lstStyle/>
          <a:p>
            <a:pPr algn="l">
              <a:lnSpc>
                <a:spcPct val="115000"/>
              </a:lnSpc>
            </a:pPr>
            <a:r>
              <a:rPr sz="2200" b="0">
                <a:solidFill>
                  <a:srgbClr val="9FD9C8"/>
                </a:solidFill>
                <a:latin typeface="Segoe UI"/>
              </a:rPr>
              <a:t>Your family's health, in your language, between doctor visits.</a:t>
            </a:r>
          </a:p>
        </p:txBody>
      </p:sp>
      <p:sp>
        <p:nvSpPr>
          <p:cNvPr id="4" name="Rounded Rectangle 3"/>
          <p:cNvSpPr/>
          <p:nvPr/>
        </p:nvSpPr>
        <p:spPr>
          <a:xfrm>
            <a:off x="822960" y="4983480"/>
            <a:ext cx="2898648"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healthcopilot.duckdns.org</a:t>
            </a:r>
          </a:p>
        </p:txBody>
      </p:sp>
      <p:sp>
        <p:nvSpPr>
          <p:cNvPr id="5" name="Rounded Rectangle 4"/>
          <p:cNvSpPr/>
          <p:nvPr/>
        </p:nvSpPr>
        <p:spPr>
          <a:xfrm>
            <a:off x="3831336" y="4983480"/>
            <a:ext cx="4893137"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github.com/prasanthselam-arch/health-copilot</a:t>
            </a:r>
          </a:p>
        </p:txBody>
      </p:sp>
      <p:sp>
        <p:nvSpPr>
          <p:cNvPr id="6" name="TextBox 5"/>
          <p:cNvSpPr txBox="1"/>
          <p:nvPr/>
        </p:nvSpPr>
        <p:spPr>
          <a:xfrm>
            <a:off x="822960" y="5760720"/>
            <a:ext cx="10515600" cy="36576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Team hack_masters  ·  Apache License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